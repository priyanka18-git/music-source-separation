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sldIdLst>
    <p:sldId id="257" r:id="rId2"/>
    <p:sldId id="258" r:id="rId3"/>
    <p:sldId id="259" r:id="rId4"/>
    <p:sldId id="260" r:id="rId5"/>
    <p:sldId id="270" r:id="rId6"/>
    <p:sldId id="276" r:id="rId7"/>
    <p:sldId id="278" r:id="rId8"/>
    <p:sldId id="279" r:id="rId9"/>
    <p:sldId id="280" r:id="rId10"/>
    <p:sldId id="277" r:id="rId11"/>
    <p:sldId id="265" r:id="rId12"/>
    <p:sldId id="266" r:id="rId13"/>
    <p:sldId id="267"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4AF87-6FA6-4540-AA7D-BBD5CE9A9CAF}" type="datetimeFigureOut">
              <a:rPr lang="en-US" smtClean="0"/>
              <a:t>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8A3565-0DD8-4A86-B185-F179E641CDB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C8A3565-0DD8-4A86-B185-F179E641CDB0}"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B9216FE-C071-420D-BB28-09B55B314C64}" type="datetime1">
              <a:rPr lang="en-US" smtClean="0"/>
              <a:t>1/5/2025</a:t>
            </a:fld>
            <a:endParaRPr lang="en-US"/>
          </a:p>
        </p:txBody>
      </p:sp>
      <p:sp>
        <p:nvSpPr>
          <p:cNvPr id="5" name="Footer Placeholder 4"/>
          <p:cNvSpPr>
            <a:spLocks noGrp="1"/>
          </p:cNvSpPr>
          <p:nvPr>
            <p:ph type="ftr" sz="quarter" idx="11"/>
          </p:nvPr>
        </p:nvSpPr>
        <p:spPr/>
        <p:txBody>
          <a:bodyPr/>
          <a:lstStyle/>
          <a:p>
            <a:r>
              <a:rPr lang="en-US"/>
              <a:t>Dept. of ECE</a:t>
            </a:r>
          </a:p>
        </p:txBody>
      </p:sp>
      <p:sp>
        <p:nvSpPr>
          <p:cNvPr id="6" name="Slide Number Placeholder 5"/>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D74E3D-0336-42C2-BFB4-C958ED9467B7}" type="datetime1">
              <a:rPr lang="en-US" smtClean="0"/>
              <a:t>1/5/2025</a:t>
            </a:fld>
            <a:endParaRPr lang="en-US"/>
          </a:p>
        </p:txBody>
      </p:sp>
      <p:sp>
        <p:nvSpPr>
          <p:cNvPr id="5" name="Footer Placeholder 4"/>
          <p:cNvSpPr>
            <a:spLocks noGrp="1"/>
          </p:cNvSpPr>
          <p:nvPr>
            <p:ph type="ftr" sz="quarter" idx="11"/>
          </p:nvPr>
        </p:nvSpPr>
        <p:spPr/>
        <p:txBody>
          <a:bodyPr/>
          <a:lstStyle/>
          <a:p>
            <a:r>
              <a:rPr lang="en-US"/>
              <a:t>Dept. of ECE</a:t>
            </a:r>
          </a:p>
        </p:txBody>
      </p:sp>
      <p:sp>
        <p:nvSpPr>
          <p:cNvPr id="6" name="Slide Number Placeholder 5"/>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B7DDD7-C401-4CAA-BD24-A32FA53B7CB9}" type="datetime1">
              <a:rPr lang="en-US" smtClean="0"/>
              <a:t>1/5/2025</a:t>
            </a:fld>
            <a:endParaRPr lang="en-US"/>
          </a:p>
        </p:txBody>
      </p:sp>
      <p:sp>
        <p:nvSpPr>
          <p:cNvPr id="5" name="Footer Placeholder 4"/>
          <p:cNvSpPr>
            <a:spLocks noGrp="1"/>
          </p:cNvSpPr>
          <p:nvPr>
            <p:ph type="ftr" sz="quarter" idx="11"/>
          </p:nvPr>
        </p:nvSpPr>
        <p:spPr/>
        <p:txBody>
          <a:bodyPr/>
          <a:lstStyle/>
          <a:p>
            <a:r>
              <a:rPr lang="en-US"/>
              <a:t>Dept. of ECE</a:t>
            </a:r>
          </a:p>
        </p:txBody>
      </p:sp>
      <p:sp>
        <p:nvSpPr>
          <p:cNvPr id="6" name="Slide Number Placeholder 5"/>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067950-397D-44F6-AED2-6259F9B75EE7}" type="datetime1">
              <a:rPr lang="en-US" smtClean="0"/>
              <a:t>1/5/2025</a:t>
            </a:fld>
            <a:endParaRPr lang="en-US"/>
          </a:p>
        </p:txBody>
      </p:sp>
      <p:sp>
        <p:nvSpPr>
          <p:cNvPr id="6" name="Footer Placeholder 5"/>
          <p:cNvSpPr>
            <a:spLocks noGrp="1"/>
          </p:cNvSpPr>
          <p:nvPr>
            <p:ph type="ftr" sz="quarter" idx="11"/>
          </p:nvPr>
        </p:nvSpPr>
        <p:spPr/>
        <p:txBody>
          <a:bodyPr/>
          <a:lstStyle/>
          <a:p>
            <a:r>
              <a:rPr lang="en-US"/>
              <a:t>Dept. of ECE</a:t>
            </a:r>
          </a:p>
        </p:txBody>
      </p:sp>
      <p:sp>
        <p:nvSpPr>
          <p:cNvPr id="7" name="Slide Number Placeholder 6"/>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A90FE81-818B-4A50-AB84-C3A1E88F69EA}" type="datetime1">
              <a:rPr lang="en-US" smtClean="0"/>
              <a:t>1/5/2025</a:t>
            </a:fld>
            <a:endParaRPr lang="en-US"/>
          </a:p>
        </p:txBody>
      </p:sp>
      <p:sp>
        <p:nvSpPr>
          <p:cNvPr id="8" name="Footer Placeholder 7"/>
          <p:cNvSpPr>
            <a:spLocks noGrp="1"/>
          </p:cNvSpPr>
          <p:nvPr>
            <p:ph type="ftr" sz="quarter" idx="11"/>
          </p:nvPr>
        </p:nvSpPr>
        <p:spPr/>
        <p:txBody>
          <a:bodyPr/>
          <a:lstStyle/>
          <a:p>
            <a:r>
              <a:rPr lang="en-US"/>
              <a:t>Dept. of ECE</a:t>
            </a:r>
          </a:p>
        </p:txBody>
      </p:sp>
      <p:sp>
        <p:nvSpPr>
          <p:cNvPr id="9" name="Slide Number Placeholder 8"/>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8793FCE-3AE4-45AA-9A7F-3C5880C8D1E5}" type="datetime1">
              <a:rPr lang="en-US" smtClean="0"/>
              <a:t>1/5/2025</a:t>
            </a:fld>
            <a:endParaRPr lang="en-US"/>
          </a:p>
        </p:txBody>
      </p:sp>
      <p:sp>
        <p:nvSpPr>
          <p:cNvPr id="4" name="Footer Placeholder 3"/>
          <p:cNvSpPr>
            <a:spLocks noGrp="1"/>
          </p:cNvSpPr>
          <p:nvPr>
            <p:ph type="ftr" sz="quarter" idx="11"/>
          </p:nvPr>
        </p:nvSpPr>
        <p:spPr/>
        <p:txBody>
          <a:bodyPr/>
          <a:lstStyle/>
          <a:p>
            <a:r>
              <a:rPr lang="en-US"/>
              <a:t>Dept. of ECE</a:t>
            </a:r>
          </a:p>
        </p:txBody>
      </p:sp>
      <p:sp>
        <p:nvSpPr>
          <p:cNvPr id="5" name="Slide Number Placeholder 4"/>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1B2A74-BC41-4B03-8E3A-2BAC0ECC5435}" type="datetime1">
              <a:rPr lang="en-US" smtClean="0"/>
              <a:t>1/5/2025</a:t>
            </a:fld>
            <a:endParaRPr lang="en-US"/>
          </a:p>
        </p:txBody>
      </p:sp>
      <p:sp>
        <p:nvSpPr>
          <p:cNvPr id="3" name="Footer Placeholder 2"/>
          <p:cNvSpPr>
            <a:spLocks noGrp="1"/>
          </p:cNvSpPr>
          <p:nvPr>
            <p:ph type="ftr" sz="quarter" idx="11"/>
          </p:nvPr>
        </p:nvSpPr>
        <p:spPr/>
        <p:txBody>
          <a:bodyPr/>
          <a:lstStyle/>
          <a:p>
            <a:r>
              <a:rPr lang="en-US"/>
              <a:t>Dept. of ECE</a:t>
            </a:r>
          </a:p>
        </p:txBody>
      </p:sp>
      <p:sp>
        <p:nvSpPr>
          <p:cNvPr id="4" name="Slide Number Placeholder 3"/>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52B548-D479-4C39-A073-9EB4C37028D3}" type="datetime1">
              <a:rPr lang="en-US" smtClean="0"/>
              <a:t>1/5/2025</a:t>
            </a:fld>
            <a:endParaRPr lang="en-US"/>
          </a:p>
        </p:txBody>
      </p:sp>
      <p:sp>
        <p:nvSpPr>
          <p:cNvPr id="6" name="Footer Placeholder 5"/>
          <p:cNvSpPr>
            <a:spLocks noGrp="1"/>
          </p:cNvSpPr>
          <p:nvPr>
            <p:ph type="ftr" sz="quarter" idx="11"/>
          </p:nvPr>
        </p:nvSpPr>
        <p:spPr/>
        <p:txBody>
          <a:bodyPr/>
          <a:lstStyle/>
          <a:p>
            <a:r>
              <a:rPr lang="en-US"/>
              <a:t>Dept. of ECE</a:t>
            </a:r>
          </a:p>
        </p:txBody>
      </p:sp>
      <p:sp>
        <p:nvSpPr>
          <p:cNvPr id="7" name="Slide Number Placeholder 6"/>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E1A08B-EED0-406E-95F7-0BB3DE4076B9}" type="datetime1">
              <a:rPr lang="en-US" smtClean="0"/>
              <a:t>1/5/2025</a:t>
            </a:fld>
            <a:endParaRPr lang="en-US"/>
          </a:p>
        </p:txBody>
      </p:sp>
      <p:sp>
        <p:nvSpPr>
          <p:cNvPr id="6" name="Footer Placeholder 5"/>
          <p:cNvSpPr>
            <a:spLocks noGrp="1"/>
          </p:cNvSpPr>
          <p:nvPr>
            <p:ph type="ftr" sz="quarter" idx="11"/>
          </p:nvPr>
        </p:nvSpPr>
        <p:spPr/>
        <p:txBody>
          <a:bodyPr/>
          <a:lstStyle/>
          <a:p>
            <a:r>
              <a:rPr lang="en-US"/>
              <a:t>Dept. of ECE</a:t>
            </a:r>
          </a:p>
        </p:txBody>
      </p:sp>
      <p:sp>
        <p:nvSpPr>
          <p:cNvPr id="7" name="Slide Number Placeholder 6"/>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9AC321-3D1B-45E4-8F08-E0FF40B89087}" type="datetime1">
              <a:rPr lang="en-US" smtClean="0"/>
              <a:t>1/5/2025</a:t>
            </a:fld>
            <a:endParaRPr lang="en-US"/>
          </a:p>
        </p:txBody>
      </p:sp>
      <p:sp>
        <p:nvSpPr>
          <p:cNvPr id="5" name="Footer Placeholder 4"/>
          <p:cNvSpPr>
            <a:spLocks noGrp="1"/>
          </p:cNvSpPr>
          <p:nvPr>
            <p:ph type="ftr" sz="quarter" idx="11"/>
          </p:nvPr>
        </p:nvSpPr>
        <p:spPr/>
        <p:txBody>
          <a:bodyPr/>
          <a:lstStyle/>
          <a:p>
            <a:r>
              <a:rPr lang="en-US"/>
              <a:t>Dept. of ECE</a:t>
            </a:r>
          </a:p>
        </p:txBody>
      </p:sp>
      <p:sp>
        <p:nvSpPr>
          <p:cNvPr id="6" name="Slide Number Placeholder 5"/>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9FC4D6-A376-409D-B28A-ECAC37146799}" type="datetime1">
              <a:rPr lang="en-US" smtClean="0"/>
              <a:t>1/5/2025</a:t>
            </a:fld>
            <a:endParaRPr lang="en-US"/>
          </a:p>
        </p:txBody>
      </p:sp>
      <p:sp>
        <p:nvSpPr>
          <p:cNvPr id="5" name="Footer Placeholder 4"/>
          <p:cNvSpPr>
            <a:spLocks noGrp="1"/>
          </p:cNvSpPr>
          <p:nvPr>
            <p:ph type="ftr" sz="quarter" idx="11"/>
          </p:nvPr>
        </p:nvSpPr>
        <p:spPr/>
        <p:txBody>
          <a:bodyPr/>
          <a:lstStyle/>
          <a:p>
            <a:r>
              <a:rPr lang="en-US"/>
              <a:t>Dept. of ECE</a:t>
            </a:r>
          </a:p>
        </p:txBody>
      </p:sp>
      <p:sp>
        <p:nvSpPr>
          <p:cNvPr id="6" name="Slide Number Placeholder 5"/>
          <p:cNvSpPr>
            <a:spLocks noGrp="1"/>
          </p:cNvSpPr>
          <p:nvPr>
            <p:ph type="sldNum" sz="quarter" idx="12"/>
          </p:nvPr>
        </p:nvSpPr>
        <p:spPr/>
        <p:txBody>
          <a:bodyPr/>
          <a:lstStyle/>
          <a:p>
            <a:fld id="{14664CE2-A199-492D-95BF-8BD1FF45761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9F22D2-A5D9-4A6F-A3FB-73055AB638C4}" type="datetime1">
              <a:rPr lang="en-US" smtClean="0"/>
              <a:t>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664CE2-A199-492D-95BF-8BD1FF4576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4"/>
          <a:stretch>
            <a:fillRect/>
          </a:stretch>
        </p:blipFill>
        <p:spPr>
          <a:xfrm>
            <a:off x="990388" y="1868044"/>
            <a:ext cx="10512686" cy="4351338"/>
          </a:xfrm>
          <a:prstGeom prst="rect">
            <a:avLst/>
          </a:prstGeom>
        </p:spPr>
      </p:pic>
      <p:sp>
        <p:nvSpPr>
          <p:cNvPr id="8" name="AutoShape 4" descr="C:\Users\EC\Desktop\cropped-cddfv-1024x112.webp"/>
          <p:cNvSpPr>
            <a:spLocks noChangeAspect="1" noChangeArrowheads="1"/>
          </p:cNvSpPr>
          <p:nvPr/>
        </p:nvSpPr>
        <p:spPr bwMode="auto">
          <a:xfrm>
            <a:off x="1669633" y="1568959"/>
            <a:ext cx="44831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9" name="AutoShape 6" descr="C:\Users\EC\Desktop\cropped-cddfv-1024x112.webp"/>
          <p:cNvSpPr>
            <a:spLocks noChangeAspect="1" noChangeArrowheads="1"/>
          </p:cNvSpPr>
          <p:nvPr/>
        </p:nvSpPr>
        <p:spPr bwMode="auto">
          <a:xfrm>
            <a:off x="212308" y="-24872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0" name="AutoShape 8" descr="C:\Users\EC\Desktop\cropped-cddfv-1024x112.webp"/>
          <p:cNvSpPr>
            <a:spLocks noChangeAspect="1" noChangeArrowheads="1"/>
          </p:cNvSpPr>
          <p:nvPr/>
        </p:nvSpPr>
        <p:spPr bwMode="auto">
          <a:xfrm>
            <a:off x="364708" y="-9632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1" name="Picture 10"/>
          <p:cNvPicPr>
            <a:picLocks noChangeAspect="1"/>
          </p:cNvPicPr>
          <p:nvPr/>
        </p:nvPicPr>
        <p:blipFill>
          <a:blip r:embed="rId5"/>
          <a:stretch>
            <a:fillRect/>
          </a:stretch>
        </p:blipFill>
        <p:spPr>
          <a:xfrm>
            <a:off x="821908" y="56072"/>
            <a:ext cx="9753600" cy="1066800"/>
          </a:xfrm>
          <a:prstGeom prst="rect">
            <a:avLst/>
          </a:prstGeom>
        </p:spPr>
      </p:pic>
      <p:sp>
        <p:nvSpPr>
          <p:cNvPr id="12" name="TextBox 11"/>
          <p:cNvSpPr txBox="1"/>
          <p:nvPr/>
        </p:nvSpPr>
        <p:spPr>
          <a:xfrm>
            <a:off x="0" y="2046631"/>
            <a:ext cx="11785340" cy="1200329"/>
          </a:xfrm>
          <a:prstGeom prst="rect">
            <a:avLst/>
          </a:prstGeom>
          <a:noFill/>
        </p:spPr>
        <p:txBody>
          <a:bodyPr wrap="square" rtlCol="0">
            <a:sp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“Musical Source separation”</a:t>
            </a:r>
          </a:p>
          <a:p>
            <a:pPr algn="ctr"/>
            <a:endParaRPr lang="en-US" sz="3600" dirty="0"/>
          </a:p>
        </p:txBody>
      </p:sp>
      <p:sp>
        <p:nvSpPr>
          <p:cNvPr id="14" name="TextBox 13"/>
          <p:cNvSpPr txBox="1"/>
          <p:nvPr/>
        </p:nvSpPr>
        <p:spPr>
          <a:xfrm>
            <a:off x="4730115" y="5288915"/>
            <a:ext cx="2388235" cy="1008380"/>
          </a:xfrm>
          <a:prstGeom prst="rect">
            <a:avLst/>
          </a:prstGeom>
          <a:noFill/>
        </p:spPr>
        <p:txBody>
          <a:bodyPr wrap="none" rtlCol="0">
            <a:noAutofit/>
          </a:bodyPr>
          <a:lstStyle/>
          <a:p>
            <a:r>
              <a:rPr lang="en-US" dirty="0">
                <a:latin typeface="Times New Roman" panose="02020603050405020304" pitchFamily="18" charset="0"/>
                <a:cs typeface="Times New Roman" panose="02020603050405020304" pitchFamily="18" charset="0"/>
              </a:rPr>
              <a:t>Under the Guidance of</a:t>
            </a:r>
          </a:p>
          <a:p>
            <a:r>
              <a:rPr lang="en-US" dirty="0">
                <a:latin typeface="Times New Roman" panose="02020603050405020304" pitchFamily="18" charset="0"/>
                <a:cs typeface="Times New Roman" panose="02020603050405020304" pitchFamily="18" charset="0"/>
              </a:rPr>
              <a:t>Prof/Dr.:</a:t>
            </a:r>
            <a:r>
              <a:rPr lang="en-IN" altLang="en-US" dirty="0">
                <a:latin typeface="Times New Roman" panose="02020603050405020304" pitchFamily="18" charset="0"/>
                <a:cs typeface="Times New Roman" panose="02020603050405020304" pitchFamily="18" charset="0"/>
              </a:rPr>
              <a:t>SURESH MURGOD</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15" name="Footer Placeholder 14"/>
          <p:cNvSpPr>
            <a:spLocks noGrp="1"/>
          </p:cNvSpPr>
          <p:nvPr>
            <p:ph type="ftr" sz="quarter" idx="11"/>
          </p:nvPr>
        </p:nvSpPr>
        <p:spPr>
          <a:xfrm>
            <a:off x="4095333" y="6252085"/>
            <a:ext cx="4114800" cy="365125"/>
          </a:xfrm>
        </p:spPr>
        <p:txBody>
          <a:bodyPr/>
          <a:lstStyle/>
          <a:p>
            <a:r>
              <a:rPr lang="en-US" sz="1800">
                <a:latin typeface="Times New Roman" panose="02020603050405020304" pitchFamily="18" charset="0"/>
                <a:cs typeface="Times New Roman" panose="02020603050405020304" pitchFamily="18" charset="0"/>
              </a:rPr>
              <a:t>Dept. of ECE</a:t>
            </a:r>
          </a:p>
        </p:txBody>
      </p:sp>
      <p:sp>
        <p:nvSpPr>
          <p:cNvPr id="16" name="Slide Number Placeholder 15"/>
          <p:cNvSpPr>
            <a:spLocks noGrp="1"/>
          </p:cNvSpPr>
          <p:nvPr>
            <p:ph type="sldNum" sz="quarter" idx="12"/>
          </p:nvPr>
        </p:nvSpPr>
        <p:spPr>
          <a:xfrm>
            <a:off x="8667333" y="6297805"/>
            <a:ext cx="2743200" cy="365125"/>
          </a:xfrm>
        </p:spPr>
        <p:txBody>
          <a:bodyPr/>
          <a:lstStyle/>
          <a:p>
            <a:fld id="{14664CE2-A199-492D-95BF-8BD1FF457610}" type="slidenum">
              <a:rPr lang="en-US" smtClean="0"/>
              <a:t>1</a:t>
            </a:fld>
            <a:endParaRPr lang="en-US" dirty="0"/>
          </a:p>
        </p:txBody>
      </p:sp>
      <p:sp>
        <p:nvSpPr>
          <p:cNvPr id="17" name="TextBox 16"/>
          <p:cNvSpPr txBox="1"/>
          <p:nvPr/>
        </p:nvSpPr>
        <p:spPr>
          <a:xfrm>
            <a:off x="2752759" y="1406517"/>
            <a:ext cx="7663829" cy="461665"/>
          </a:xfrm>
          <a:prstGeom prst="rect">
            <a:avLst/>
          </a:prstGeom>
          <a:noFill/>
        </p:spPr>
        <p:txBody>
          <a:bodyPr wrap="none" rtlCol="0">
            <a:spAutoFit/>
          </a:bodyPr>
          <a:lstStyle/>
          <a:p>
            <a:r>
              <a:rPr lang="en-US" sz="2400" dirty="0"/>
              <a:t>Department of Electronics and Communication Engineering </a:t>
            </a:r>
          </a:p>
        </p:txBody>
      </p:sp>
      <p:graphicFrame>
        <p:nvGraphicFramePr>
          <p:cNvPr id="2" name="Table 1"/>
          <p:cNvGraphicFramePr/>
          <p:nvPr>
            <p:custDataLst>
              <p:tags r:id="rId1"/>
            </p:custDataLst>
            <p:extLst>
              <p:ext uri="{D42A27DB-BD31-4B8C-83A1-F6EECF244321}">
                <p14:modId xmlns:p14="http://schemas.microsoft.com/office/powerpoint/2010/main" val="4203281141"/>
              </p:ext>
            </p:extLst>
          </p:nvPr>
        </p:nvGraphicFramePr>
        <p:xfrm>
          <a:off x="1828800" y="3212465"/>
          <a:ext cx="8042275" cy="1708150"/>
        </p:xfrm>
        <a:graphic>
          <a:graphicData uri="http://schemas.openxmlformats.org/drawingml/2006/table">
            <a:tbl>
              <a:tblPr firstRow="1" bandRow="1">
                <a:tableStyleId>{5C22544A-7EE6-4342-B048-85BDC9FD1C3A}</a:tableStyleId>
              </a:tblPr>
              <a:tblGrid>
                <a:gridCol w="3756660">
                  <a:extLst>
                    <a:ext uri="{9D8B030D-6E8A-4147-A177-3AD203B41FA5}">
                      <a16:colId xmlns:a16="http://schemas.microsoft.com/office/drawing/2014/main" val="20000"/>
                    </a:ext>
                  </a:extLst>
                </a:gridCol>
                <a:gridCol w="4285615">
                  <a:extLst>
                    <a:ext uri="{9D8B030D-6E8A-4147-A177-3AD203B41FA5}">
                      <a16:colId xmlns:a16="http://schemas.microsoft.com/office/drawing/2014/main" val="20001"/>
                    </a:ext>
                  </a:extLst>
                </a:gridCol>
              </a:tblGrid>
              <a:tr h="341630">
                <a:tc>
                  <a:txBody>
                    <a:bodyPr/>
                    <a:lstStyle/>
                    <a:p>
                      <a:pPr algn="ctr">
                        <a:lnSpc>
                          <a:spcPct val="120000"/>
                        </a:lnSpc>
                        <a:spcBef>
                          <a:spcPts val="0"/>
                        </a:spcBef>
                        <a:spcAft>
                          <a:spcPts val="0"/>
                        </a:spcAft>
                        <a:buNone/>
                      </a:pPr>
                      <a:r>
                        <a:rPr lang="en-IN" altLang="en-US" sz="1800" spc="120">
                          <a:latin typeface="Microsoft YaHei" panose="020B0503020204020204" charset="-122"/>
                          <a:ea typeface="Microsoft YaHei" panose="020B0503020204020204" charset="-122"/>
                        </a:rPr>
                        <a:t>NAME</a:t>
                      </a:r>
                    </a:p>
                  </a:txBody>
                  <a:tcPr marL="25400" marR="25400" marT="6350" marB="6350" anchor="ctr"/>
                </a:tc>
                <a:tc>
                  <a:txBody>
                    <a:bodyPr/>
                    <a:lstStyle/>
                    <a:p>
                      <a:pPr algn="ctr">
                        <a:lnSpc>
                          <a:spcPct val="120000"/>
                        </a:lnSpc>
                        <a:spcBef>
                          <a:spcPts val="0"/>
                        </a:spcBef>
                        <a:spcAft>
                          <a:spcPts val="0"/>
                        </a:spcAft>
                        <a:buNone/>
                      </a:pPr>
                      <a:r>
                        <a:rPr lang="en-IN" altLang="en-US" sz="1800" spc="120">
                          <a:latin typeface="Microsoft YaHei" panose="020B0503020204020204" charset="-122"/>
                          <a:ea typeface="Microsoft YaHei" panose="020B0503020204020204" charset="-122"/>
                        </a:rPr>
                        <a:t>USN</a:t>
                      </a:r>
                    </a:p>
                  </a:txBody>
                  <a:tcPr marL="25400" marR="25400" marT="6350" marB="6350" anchor="ctr"/>
                </a:tc>
                <a:extLst>
                  <a:ext uri="{0D108BD9-81ED-4DB2-BD59-A6C34878D82A}">
                    <a16:rowId xmlns:a16="http://schemas.microsoft.com/office/drawing/2014/main" val="10000"/>
                  </a:ext>
                </a:extLst>
              </a:tr>
              <a:tr h="341630">
                <a:tc>
                  <a:txBody>
                    <a:bodyPr/>
                    <a:lstStyle/>
                    <a:p>
                      <a:pPr algn="ctr">
                        <a:lnSpc>
                          <a:spcPct val="120000"/>
                        </a:lnSpc>
                        <a:spcBef>
                          <a:spcPts val="0"/>
                        </a:spcBef>
                        <a:spcAft>
                          <a:spcPts val="0"/>
                        </a:spcAft>
                        <a:buNone/>
                      </a:pPr>
                      <a:r>
                        <a:rPr lang="en-IN" altLang="en-US" sz="1800" spc="60" dirty="0">
                          <a:latin typeface="Microsoft YaHei" panose="020B0503020204020204" charset="-122"/>
                          <a:ea typeface="Microsoft YaHei" panose="020B0503020204020204" charset="-122"/>
                        </a:rPr>
                        <a:t>Nandeesh Katakol</a:t>
                      </a:r>
                    </a:p>
                  </a:txBody>
                  <a:tcPr marL="25400" marR="25400" marT="6350" marB="6350" anchor="ctr"/>
                </a:tc>
                <a:tc>
                  <a:txBody>
                    <a:bodyPr/>
                    <a:lstStyle/>
                    <a:p>
                      <a:pPr algn="ctr">
                        <a:lnSpc>
                          <a:spcPct val="120000"/>
                        </a:lnSpc>
                        <a:spcBef>
                          <a:spcPts val="0"/>
                        </a:spcBef>
                        <a:spcAft>
                          <a:spcPts val="0"/>
                        </a:spcAft>
                        <a:buNone/>
                      </a:pPr>
                      <a:r>
                        <a:rPr lang="en-IN" altLang="en-US" sz="1800" spc="60" dirty="0">
                          <a:latin typeface="Microsoft YaHei" panose="020B0503020204020204" charset="-122"/>
                          <a:ea typeface="Microsoft YaHei" panose="020B0503020204020204" charset="-122"/>
                        </a:rPr>
                        <a:t>02FE22BEC040</a:t>
                      </a:r>
                    </a:p>
                  </a:txBody>
                  <a:tcPr marL="25400" marR="25400" marT="6350" marB="6350" anchor="ctr"/>
                </a:tc>
                <a:extLst>
                  <a:ext uri="{0D108BD9-81ED-4DB2-BD59-A6C34878D82A}">
                    <a16:rowId xmlns:a16="http://schemas.microsoft.com/office/drawing/2014/main" val="10001"/>
                  </a:ext>
                </a:extLst>
              </a:tr>
              <a:tr h="341630">
                <a:tc>
                  <a:txBody>
                    <a:bodyPr/>
                    <a:lstStyle/>
                    <a:p>
                      <a:pPr algn="ctr">
                        <a:lnSpc>
                          <a:spcPct val="120000"/>
                        </a:lnSpc>
                        <a:spcBef>
                          <a:spcPts val="0"/>
                        </a:spcBef>
                        <a:spcAft>
                          <a:spcPts val="0"/>
                        </a:spcAft>
                        <a:buNone/>
                      </a:pPr>
                      <a:r>
                        <a:rPr lang="en-IN" altLang="en-US" sz="1800" spc="60" dirty="0">
                          <a:latin typeface="Microsoft YaHei" panose="020B0503020204020204" charset="-122"/>
                          <a:ea typeface="Microsoft YaHei" panose="020B0503020204020204" charset="-122"/>
                        </a:rPr>
                        <a:t>Priyanshu Porwal</a:t>
                      </a:r>
                    </a:p>
                  </a:txBody>
                  <a:tcPr marL="25400" marR="25400" marT="6350" marB="6350" anchor="ctr"/>
                </a:tc>
                <a:tc>
                  <a:txBody>
                    <a:bodyPr/>
                    <a:lstStyle/>
                    <a:p>
                      <a:pPr algn="ctr">
                        <a:lnSpc>
                          <a:spcPct val="120000"/>
                        </a:lnSpc>
                        <a:spcBef>
                          <a:spcPts val="0"/>
                        </a:spcBef>
                        <a:spcAft>
                          <a:spcPts val="0"/>
                        </a:spcAft>
                        <a:buNone/>
                      </a:pPr>
                      <a:r>
                        <a:rPr lang="en-IN" altLang="en-US" sz="1800" spc="60" dirty="0">
                          <a:latin typeface="Microsoft YaHei" panose="020B0503020204020204" charset="-122"/>
                          <a:ea typeface="Microsoft YaHei" panose="020B0503020204020204" charset="-122"/>
                          <a:sym typeface="+mn-ea"/>
                        </a:rPr>
                        <a:t>02FE22BEC056</a:t>
                      </a:r>
                    </a:p>
                  </a:txBody>
                  <a:tcPr marL="25400" marR="25400" marT="6350" marB="6350" anchor="ctr"/>
                </a:tc>
                <a:extLst>
                  <a:ext uri="{0D108BD9-81ED-4DB2-BD59-A6C34878D82A}">
                    <a16:rowId xmlns:a16="http://schemas.microsoft.com/office/drawing/2014/main" val="10002"/>
                  </a:ext>
                </a:extLst>
              </a:tr>
              <a:tr h="341630">
                <a:tc>
                  <a:txBody>
                    <a:bodyPr/>
                    <a:lstStyle/>
                    <a:p>
                      <a:pPr algn="ctr">
                        <a:lnSpc>
                          <a:spcPct val="120000"/>
                        </a:lnSpc>
                        <a:spcBef>
                          <a:spcPts val="0"/>
                        </a:spcBef>
                        <a:spcAft>
                          <a:spcPts val="0"/>
                        </a:spcAft>
                        <a:buNone/>
                      </a:pPr>
                      <a:r>
                        <a:rPr lang="en-IN" altLang="en-US" sz="1800" spc="60" dirty="0">
                          <a:latin typeface="Microsoft YaHei" panose="020B0503020204020204" charset="-122"/>
                          <a:ea typeface="Microsoft YaHei" panose="020B0503020204020204" charset="-122"/>
                          <a:sym typeface="+mn-ea"/>
                        </a:rPr>
                        <a:t>Jamuna Pulpatli</a:t>
                      </a:r>
                    </a:p>
                  </a:txBody>
                  <a:tcPr marL="25400" marR="25400" marT="6350" marB="6350" anchor="ctr"/>
                </a:tc>
                <a:tc>
                  <a:txBody>
                    <a:bodyPr/>
                    <a:lstStyle/>
                    <a:p>
                      <a:pPr algn="ctr">
                        <a:lnSpc>
                          <a:spcPct val="120000"/>
                        </a:lnSpc>
                        <a:spcBef>
                          <a:spcPts val="0"/>
                        </a:spcBef>
                        <a:spcAft>
                          <a:spcPts val="0"/>
                        </a:spcAft>
                        <a:buNone/>
                      </a:pPr>
                      <a:r>
                        <a:rPr lang="en-IN" altLang="en-US" sz="1800" spc="60" dirty="0">
                          <a:latin typeface="Microsoft YaHei" panose="020B0503020204020204" charset="-122"/>
                          <a:ea typeface="Microsoft YaHei" panose="020B0503020204020204" charset="-122"/>
                          <a:sym typeface="+mn-ea"/>
                        </a:rPr>
                        <a:t>02FE22BEC032</a:t>
                      </a:r>
                    </a:p>
                  </a:txBody>
                  <a:tcPr marL="25400" marR="25400" marT="6350" marB="6350" anchor="ctr"/>
                </a:tc>
                <a:extLst>
                  <a:ext uri="{0D108BD9-81ED-4DB2-BD59-A6C34878D82A}">
                    <a16:rowId xmlns:a16="http://schemas.microsoft.com/office/drawing/2014/main" val="10003"/>
                  </a:ext>
                </a:extLst>
              </a:tr>
              <a:tr h="341630">
                <a:tc>
                  <a:txBody>
                    <a:bodyPr/>
                    <a:lstStyle/>
                    <a:p>
                      <a:pPr algn="ctr">
                        <a:lnSpc>
                          <a:spcPct val="120000"/>
                        </a:lnSpc>
                        <a:spcBef>
                          <a:spcPts val="0"/>
                        </a:spcBef>
                        <a:spcAft>
                          <a:spcPts val="0"/>
                        </a:spcAft>
                        <a:buNone/>
                      </a:pPr>
                      <a:r>
                        <a:rPr lang="en-IN" altLang="en-US" sz="1800" spc="60" dirty="0">
                          <a:latin typeface="Microsoft YaHei" panose="020B0503020204020204" charset="-122"/>
                          <a:ea typeface="Microsoft YaHei" panose="020B0503020204020204" charset="-122"/>
                          <a:sym typeface="+mn-ea"/>
                        </a:rPr>
                        <a:t>Priyanka Budihal</a:t>
                      </a:r>
                    </a:p>
                  </a:txBody>
                  <a:tcPr marL="25400" marR="25400" marT="6350" marB="6350" anchor="ctr"/>
                </a:tc>
                <a:tc>
                  <a:txBody>
                    <a:bodyPr/>
                    <a:lstStyle/>
                    <a:p>
                      <a:pPr algn="ctr">
                        <a:lnSpc>
                          <a:spcPct val="120000"/>
                        </a:lnSpc>
                        <a:spcBef>
                          <a:spcPts val="0"/>
                        </a:spcBef>
                        <a:spcAft>
                          <a:spcPts val="0"/>
                        </a:spcAft>
                        <a:buNone/>
                      </a:pPr>
                      <a:r>
                        <a:rPr lang="en-IN" altLang="en-US" sz="1800" spc="60" dirty="0">
                          <a:latin typeface="Microsoft YaHei" panose="020B0503020204020204" charset="-122"/>
                          <a:ea typeface="Microsoft YaHei" panose="020B0503020204020204" charset="-122"/>
                          <a:sym typeface="+mn-ea"/>
                        </a:rPr>
                        <a:t>02FE22BEC054</a:t>
                      </a:r>
                    </a:p>
                  </a:txBody>
                  <a:tcPr marL="25400" marR="25400" marT="6350" marB="635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INDEX</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769772175"/>
              </p:ext>
            </p:extLst>
          </p:nvPr>
        </p:nvGraphicFramePr>
        <p:xfrm>
          <a:off x="838200" y="1921379"/>
          <a:ext cx="10515601" cy="4097968"/>
        </p:xfrm>
        <a:graphic>
          <a:graphicData uri="http://schemas.openxmlformats.org/drawingml/2006/table">
            <a:tbl>
              <a:tblPr firstRow="1" bandRow="1">
                <a:tableStyleId>{5C22544A-7EE6-4342-B048-85BDC9FD1C3A}</a:tableStyleId>
              </a:tblPr>
              <a:tblGrid>
                <a:gridCol w="971939">
                  <a:extLst>
                    <a:ext uri="{9D8B030D-6E8A-4147-A177-3AD203B41FA5}">
                      <a16:colId xmlns:a16="http://schemas.microsoft.com/office/drawing/2014/main" val="20000"/>
                    </a:ext>
                  </a:extLst>
                </a:gridCol>
                <a:gridCol w="7389848">
                  <a:extLst>
                    <a:ext uri="{9D8B030D-6E8A-4147-A177-3AD203B41FA5}">
                      <a16:colId xmlns:a16="http://schemas.microsoft.com/office/drawing/2014/main" val="20001"/>
                    </a:ext>
                  </a:extLst>
                </a:gridCol>
                <a:gridCol w="2153814">
                  <a:extLst>
                    <a:ext uri="{9D8B030D-6E8A-4147-A177-3AD203B41FA5}">
                      <a16:colId xmlns:a16="http://schemas.microsoft.com/office/drawing/2014/main" val="20002"/>
                    </a:ext>
                  </a:extLst>
                </a:gridCol>
              </a:tblGrid>
              <a:tr h="456061">
                <a:tc>
                  <a:txBody>
                    <a:bodyPr/>
                    <a:lstStyle/>
                    <a:p>
                      <a:pPr algn="ctr"/>
                      <a:r>
                        <a:rPr lang="en-US" sz="2400" b="0" dirty="0">
                          <a:latin typeface="Times New Roman" panose="02020603050405020304" pitchFamily="18" charset="0"/>
                          <a:cs typeface="Times New Roman" panose="02020603050405020304" pitchFamily="18" charset="0"/>
                        </a:rPr>
                        <a:t>S</a:t>
                      </a:r>
                      <a:r>
                        <a:rPr lang="en-IN" sz="2400" b="0" dirty="0">
                          <a:latin typeface="Times New Roman" panose="02020603050405020304" pitchFamily="18" charset="0"/>
                          <a:cs typeface="Times New Roman" panose="02020603050405020304" pitchFamily="18" charset="0"/>
                        </a:rPr>
                        <a:t>l.no</a:t>
                      </a:r>
                    </a:p>
                  </a:txBody>
                  <a:tcPr marL="74751" marR="74751"/>
                </a:tc>
                <a:tc>
                  <a:txBody>
                    <a:bodyPr/>
                    <a:lstStyle/>
                    <a:p>
                      <a:pPr algn="ctr"/>
                      <a:r>
                        <a:rPr lang="en-IN" sz="2400" b="0" dirty="0">
                          <a:latin typeface="Times New Roman" panose="02020603050405020304" pitchFamily="18" charset="0"/>
                          <a:cs typeface="Times New Roman" panose="02020603050405020304" pitchFamily="18" charset="0"/>
                        </a:rPr>
                        <a:t>Content</a:t>
                      </a:r>
                    </a:p>
                  </a:txBody>
                  <a:tcPr marL="74751" marR="74751"/>
                </a:tc>
                <a:tc>
                  <a:txBody>
                    <a:bodyPr/>
                    <a:lstStyle/>
                    <a:p>
                      <a:pPr algn="ctr"/>
                      <a:r>
                        <a:rPr lang="en-IN" sz="2400" b="0" dirty="0">
                          <a:latin typeface="Times New Roman" panose="02020603050405020304" pitchFamily="18" charset="0"/>
                          <a:cs typeface="Times New Roman" panose="02020603050405020304" pitchFamily="18" charset="0"/>
                        </a:rPr>
                        <a:t>Slide No.</a:t>
                      </a:r>
                    </a:p>
                  </a:txBody>
                  <a:tcPr marL="74751" marR="74751"/>
                </a:tc>
                <a:extLst>
                  <a:ext uri="{0D108BD9-81ED-4DB2-BD59-A6C34878D82A}">
                    <a16:rowId xmlns:a16="http://schemas.microsoft.com/office/drawing/2014/main" val="10000"/>
                  </a:ext>
                </a:extLst>
              </a:tr>
              <a:tr h="456061">
                <a:tc>
                  <a:txBody>
                    <a:bodyPr/>
                    <a:lstStyle/>
                    <a:p>
                      <a:pPr algn="ctr"/>
                      <a:r>
                        <a:rPr lang="en-IN" sz="2400" b="0" dirty="0">
                          <a:latin typeface="Times New Roman" panose="02020603050405020304" pitchFamily="18" charset="0"/>
                          <a:cs typeface="Times New Roman" panose="02020603050405020304" pitchFamily="18" charset="0"/>
                        </a:rPr>
                        <a:t>1</a:t>
                      </a:r>
                    </a:p>
                  </a:txBody>
                  <a:tcPr marL="74751" marR="74751"/>
                </a:tc>
                <a:tc>
                  <a:txBody>
                    <a:bodyPr/>
                    <a:lstStyle/>
                    <a:p>
                      <a:pPr algn="ctr"/>
                      <a:r>
                        <a:rPr lang="en-US" sz="2400" b="0" dirty="0">
                          <a:latin typeface="Times New Roman" panose="02020603050405020304" pitchFamily="18" charset="0"/>
                          <a:cs typeface="Times New Roman" panose="02020603050405020304" pitchFamily="18" charset="0"/>
                        </a:rPr>
                        <a:t>Problem Statement</a:t>
                      </a:r>
                    </a:p>
                  </a:txBody>
                  <a:tcPr marL="74751" marR="74751"/>
                </a:tc>
                <a:tc>
                  <a:txBody>
                    <a:bodyPr/>
                    <a:lstStyle/>
                    <a:p>
                      <a:pPr algn="ctr"/>
                      <a:r>
                        <a:rPr lang="en-IN" sz="2400" b="0" dirty="0">
                          <a:latin typeface="Times New Roman" panose="02020603050405020304" pitchFamily="18" charset="0"/>
                          <a:cs typeface="Times New Roman" panose="02020603050405020304" pitchFamily="18" charset="0"/>
                        </a:rPr>
                        <a:t>3</a:t>
                      </a:r>
                    </a:p>
                  </a:txBody>
                  <a:tcPr marL="74751" marR="74751"/>
                </a:tc>
                <a:extLst>
                  <a:ext uri="{0D108BD9-81ED-4DB2-BD59-A6C34878D82A}">
                    <a16:rowId xmlns:a16="http://schemas.microsoft.com/office/drawing/2014/main" val="10001"/>
                  </a:ext>
                </a:extLst>
              </a:tr>
              <a:tr h="497450">
                <a:tc>
                  <a:txBody>
                    <a:bodyPr/>
                    <a:lstStyle/>
                    <a:p>
                      <a:pPr algn="ctr"/>
                      <a:r>
                        <a:rPr lang="en-IN" sz="2400" b="0" dirty="0">
                          <a:latin typeface="Times New Roman" panose="02020603050405020304" pitchFamily="18" charset="0"/>
                          <a:cs typeface="Times New Roman" panose="02020603050405020304" pitchFamily="18" charset="0"/>
                        </a:rPr>
                        <a:t>2</a:t>
                      </a:r>
                    </a:p>
                  </a:txBody>
                  <a:tcPr marL="74751" marR="74751"/>
                </a:tc>
                <a:tc>
                  <a:txBody>
                    <a:bodyPr/>
                    <a:lstStyle/>
                    <a:p>
                      <a:pPr algn="ctr"/>
                      <a:r>
                        <a:rPr lang="en-US" sz="2400" b="0" dirty="0">
                          <a:latin typeface="Times New Roman" panose="02020603050405020304" pitchFamily="18" charset="0"/>
                          <a:cs typeface="Times New Roman" panose="02020603050405020304" pitchFamily="18" charset="0"/>
                        </a:rPr>
                        <a:t>Introduction</a:t>
                      </a:r>
                    </a:p>
                  </a:txBody>
                  <a:tcPr marL="74751" marR="74751"/>
                </a:tc>
                <a:tc>
                  <a:txBody>
                    <a:bodyPr/>
                    <a:lstStyle/>
                    <a:p>
                      <a:pPr algn="ctr"/>
                      <a:r>
                        <a:rPr lang="en-IN" sz="2400" b="0" dirty="0">
                          <a:latin typeface="Times New Roman" panose="02020603050405020304" pitchFamily="18" charset="0"/>
                          <a:cs typeface="Times New Roman" panose="02020603050405020304" pitchFamily="18" charset="0"/>
                        </a:rPr>
                        <a:t>4</a:t>
                      </a:r>
                    </a:p>
                  </a:txBody>
                  <a:tcPr marL="74751" marR="74751"/>
                </a:tc>
                <a:extLst>
                  <a:ext uri="{0D108BD9-81ED-4DB2-BD59-A6C34878D82A}">
                    <a16:rowId xmlns:a16="http://schemas.microsoft.com/office/drawing/2014/main" val="10002"/>
                  </a:ext>
                </a:extLst>
              </a:tr>
              <a:tr h="456061">
                <a:tc>
                  <a:txBody>
                    <a:bodyPr/>
                    <a:lstStyle/>
                    <a:p>
                      <a:pPr algn="ctr"/>
                      <a:r>
                        <a:rPr lang="en-IN" sz="2400" b="0" dirty="0">
                          <a:latin typeface="Times New Roman" panose="02020603050405020304" pitchFamily="18" charset="0"/>
                          <a:cs typeface="Times New Roman" panose="02020603050405020304" pitchFamily="18" charset="0"/>
                        </a:rPr>
                        <a:t>3</a:t>
                      </a:r>
                    </a:p>
                  </a:txBody>
                  <a:tcPr marL="74751" marR="74751"/>
                </a:tc>
                <a:tc>
                  <a:txBody>
                    <a:bodyPr/>
                    <a:lstStyle/>
                    <a:p>
                      <a:pPr algn="ctr"/>
                      <a:r>
                        <a:rPr lang="en-US" sz="2400" b="0" dirty="0">
                          <a:latin typeface="Times New Roman" panose="02020603050405020304" pitchFamily="18" charset="0"/>
                          <a:cs typeface="Times New Roman" panose="02020603050405020304" pitchFamily="18" charset="0"/>
                        </a:rPr>
                        <a:t>Literature review</a:t>
                      </a:r>
                    </a:p>
                  </a:txBody>
                  <a:tcPr marL="74751" marR="74751"/>
                </a:tc>
                <a:tc>
                  <a:txBody>
                    <a:bodyPr/>
                    <a:lstStyle/>
                    <a:p>
                      <a:pPr algn="ctr"/>
                      <a:r>
                        <a:rPr lang="en-IN" sz="2400" b="0" dirty="0">
                          <a:latin typeface="Times New Roman" panose="02020603050405020304" pitchFamily="18" charset="0"/>
                          <a:cs typeface="Times New Roman" panose="02020603050405020304" pitchFamily="18" charset="0"/>
                        </a:rPr>
                        <a:t>5</a:t>
                      </a:r>
                    </a:p>
                  </a:txBody>
                  <a:tcPr marL="74751" marR="74751"/>
                </a:tc>
                <a:extLst>
                  <a:ext uri="{0D108BD9-81ED-4DB2-BD59-A6C34878D82A}">
                    <a16:rowId xmlns:a16="http://schemas.microsoft.com/office/drawing/2014/main" val="10003"/>
                  </a:ext>
                </a:extLst>
              </a:tr>
              <a:tr h="456061">
                <a:tc>
                  <a:txBody>
                    <a:bodyPr/>
                    <a:lstStyle/>
                    <a:p>
                      <a:pPr algn="ctr"/>
                      <a:r>
                        <a:rPr lang="en-IN" sz="2400" b="0" dirty="0">
                          <a:latin typeface="Times New Roman" panose="02020603050405020304" pitchFamily="18" charset="0"/>
                          <a:cs typeface="Times New Roman" panose="02020603050405020304" pitchFamily="18" charset="0"/>
                        </a:rPr>
                        <a:t>4</a:t>
                      </a:r>
                    </a:p>
                  </a:txBody>
                  <a:tcPr marL="74751" marR="74751"/>
                </a:tc>
                <a:tc>
                  <a:txBody>
                    <a:bodyPr/>
                    <a:lstStyle/>
                    <a:p>
                      <a:pPr algn="ctr"/>
                      <a:r>
                        <a:rPr lang="en-US" sz="2400" b="0" dirty="0">
                          <a:latin typeface="Times New Roman" panose="02020603050405020304" pitchFamily="18" charset="0"/>
                          <a:cs typeface="Times New Roman" panose="02020603050405020304" pitchFamily="18" charset="0"/>
                        </a:rPr>
                        <a:t>Dataset</a:t>
                      </a:r>
                    </a:p>
                  </a:txBody>
                  <a:tcPr marL="74751" marR="74751"/>
                </a:tc>
                <a:tc>
                  <a:txBody>
                    <a:bodyPr/>
                    <a:lstStyle/>
                    <a:p>
                      <a:pPr algn="ctr"/>
                      <a:r>
                        <a:rPr lang="en-IN" sz="2400" b="0" dirty="0">
                          <a:latin typeface="Times New Roman" panose="02020603050405020304" pitchFamily="18" charset="0"/>
                          <a:cs typeface="Times New Roman" panose="02020603050405020304" pitchFamily="18" charset="0"/>
                        </a:rPr>
                        <a:t>8</a:t>
                      </a:r>
                    </a:p>
                  </a:txBody>
                  <a:tcPr marL="74751" marR="74751"/>
                </a:tc>
                <a:extLst>
                  <a:ext uri="{0D108BD9-81ED-4DB2-BD59-A6C34878D82A}">
                    <a16:rowId xmlns:a16="http://schemas.microsoft.com/office/drawing/2014/main" val="10005"/>
                  </a:ext>
                </a:extLst>
              </a:tr>
              <a:tr h="456061">
                <a:tc>
                  <a:txBody>
                    <a:bodyPr/>
                    <a:lstStyle/>
                    <a:p>
                      <a:pPr algn="ctr"/>
                      <a:r>
                        <a:rPr lang="en-IN" sz="2400" b="0" dirty="0">
                          <a:latin typeface="Times New Roman" panose="02020603050405020304" pitchFamily="18" charset="0"/>
                          <a:cs typeface="Times New Roman" panose="02020603050405020304" pitchFamily="18" charset="0"/>
                        </a:rPr>
                        <a:t>5</a:t>
                      </a:r>
                    </a:p>
                  </a:txBody>
                  <a:tcPr marL="74751" marR="74751"/>
                </a:tc>
                <a:tc>
                  <a:txBody>
                    <a:bodyPr/>
                    <a:lstStyle/>
                    <a:p>
                      <a:pPr algn="ctr"/>
                      <a:r>
                        <a:rPr lang="en-US" sz="2400" b="0" dirty="0">
                          <a:latin typeface="Times New Roman" panose="02020603050405020304" pitchFamily="18" charset="0"/>
                          <a:cs typeface="Times New Roman" panose="02020603050405020304" pitchFamily="18" charset="0"/>
                        </a:rPr>
                        <a:t>Block Diagram </a:t>
                      </a:r>
                    </a:p>
                  </a:txBody>
                  <a:tcPr marL="74751" marR="74751"/>
                </a:tc>
                <a:tc>
                  <a:txBody>
                    <a:bodyPr/>
                    <a:lstStyle/>
                    <a:p>
                      <a:pPr algn="ctr"/>
                      <a:r>
                        <a:rPr lang="en-IN" sz="2400" b="0" dirty="0">
                          <a:latin typeface="Times New Roman" panose="02020603050405020304" pitchFamily="18" charset="0"/>
                          <a:cs typeface="Times New Roman" panose="02020603050405020304" pitchFamily="18" charset="0"/>
                        </a:rPr>
                        <a:t>9</a:t>
                      </a:r>
                    </a:p>
                  </a:txBody>
                  <a:tcPr marL="74751" marR="74751"/>
                </a:tc>
                <a:extLst>
                  <a:ext uri="{0D108BD9-81ED-4DB2-BD59-A6C34878D82A}">
                    <a16:rowId xmlns:a16="http://schemas.microsoft.com/office/drawing/2014/main" val="10006"/>
                  </a:ext>
                </a:extLst>
              </a:tr>
              <a:tr h="491558">
                <a:tc>
                  <a:txBody>
                    <a:bodyPr/>
                    <a:lstStyle/>
                    <a:p>
                      <a:pPr algn="ctr"/>
                      <a:r>
                        <a:rPr lang="en-IN" sz="2400" b="0" dirty="0">
                          <a:latin typeface="Times New Roman" panose="02020603050405020304" pitchFamily="18" charset="0"/>
                          <a:cs typeface="Times New Roman" panose="02020603050405020304" pitchFamily="18" charset="0"/>
                        </a:rPr>
                        <a:t>6</a:t>
                      </a:r>
                    </a:p>
                  </a:txBody>
                  <a:tcPr marL="74751" marR="74751"/>
                </a:tc>
                <a:tc>
                  <a:txBody>
                    <a:bodyPr/>
                    <a:lstStyle/>
                    <a:p>
                      <a:pPr algn="ctr"/>
                      <a:r>
                        <a:rPr lang="en-US" sz="2400" b="0" dirty="0">
                          <a:latin typeface="Times New Roman" panose="02020603050405020304" pitchFamily="18" charset="0"/>
                          <a:cs typeface="Times New Roman" panose="02020603050405020304" pitchFamily="18" charset="0"/>
                        </a:rPr>
                        <a:t>Timeline of project</a:t>
                      </a:r>
                    </a:p>
                  </a:txBody>
                  <a:tcPr marL="74751" marR="74751"/>
                </a:tc>
                <a:tc>
                  <a:txBody>
                    <a:bodyPr/>
                    <a:lstStyle/>
                    <a:p>
                      <a:pPr algn="ctr"/>
                      <a:r>
                        <a:rPr lang="en-IN" sz="2400" b="0" dirty="0">
                          <a:latin typeface="Times New Roman" panose="02020603050405020304" pitchFamily="18" charset="0"/>
                          <a:cs typeface="Times New Roman" panose="02020603050405020304" pitchFamily="18" charset="0"/>
                        </a:rPr>
                        <a:t>10</a:t>
                      </a:r>
                    </a:p>
                  </a:txBody>
                  <a:tcPr marL="74751" marR="74751"/>
                </a:tc>
                <a:extLst>
                  <a:ext uri="{0D108BD9-81ED-4DB2-BD59-A6C34878D82A}">
                    <a16:rowId xmlns:a16="http://schemas.microsoft.com/office/drawing/2014/main" val="10007"/>
                  </a:ext>
                </a:extLst>
              </a:tr>
              <a:tr h="660569">
                <a:tc>
                  <a:txBody>
                    <a:bodyPr/>
                    <a:lstStyle/>
                    <a:p>
                      <a:pPr algn="ctr"/>
                      <a:r>
                        <a:rPr lang="en-IN" sz="2400" b="0" dirty="0">
                          <a:latin typeface="Times New Roman" panose="02020603050405020304" pitchFamily="18" charset="0"/>
                          <a:cs typeface="Times New Roman" panose="02020603050405020304" pitchFamily="18" charset="0"/>
                        </a:rPr>
                        <a:t>7</a:t>
                      </a:r>
                    </a:p>
                  </a:txBody>
                  <a:tcPr marL="74751" marR="74751"/>
                </a:tc>
                <a:tc>
                  <a:txBody>
                    <a:bodyPr/>
                    <a:lstStyle/>
                    <a:p>
                      <a:pPr algn="ctr"/>
                      <a:r>
                        <a:rPr lang="en-US" sz="2400" b="0" dirty="0">
                          <a:latin typeface="Times New Roman" panose="02020603050405020304" pitchFamily="18" charset="0"/>
                          <a:cs typeface="Times New Roman" panose="02020603050405020304" pitchFamily="18" charset="0"/>
                        </a:rPr>
                        <a:t>References </a:t>
                      </a:r>
                    </a:p>
                    <a:p>
                      <a:pPr algn="ctr"/>
                      <a:endParaRPr lang="en-US" sz="2400" b="0" dirty="0">
                        <a:latin typeface="Times New Roman" panose="02020603050405020304" pitchFamily="18" charset="0"/>
                        <a:cs typeface="Times New Roman" panose="02020603050405020304" pitchFamily="18" charset="0"/>
                      </a:endParaRPr>
                    </a:p>
                  </a:txBody>
                  <a:tcPr marL="74751" marR="74751"/>
                </a:tc>
                <a:tc>
                  <a:txBody>
                    <a:bodyPr/>
                    <a:lstStyle/>
                    <a:p>
                      <a:pPr algn="ctr"/>
                      <a:r>
                        <a:rPr lang="en-IN" sz="2400" b="0" dirty="0">
                          <a:latin typeface="Times New Roman" panose="02020603050405020304" pitchFamily="18" charset="0"/>
                          <a:cs typeface="Times New Roman" panose="02020603050405020304" pitchFamily="18" charset="0"/>
                        </a:rPr>
                        <a:t>11</a:t>
                      </a:r>
                    </a:p>
                  </a:txBody>
                  <a:tcPr marL="74751" marR="74751"/>
                </a:tc>
                <a:extLst>
                  <a:ext uri="{0D108BD9-81ED-4DB2-BD59-A6C34878D82A}">
                    <a16:rowId xmlns:a16="http://schemas.microsoft.com/office/drawing/2014/main" val="10008"/>
                  </a:ext>
                </a:extLst>
              </a:tr>
            </a:tbl>
          </a:graphicData>
        </a:graphic>
      </p:graphicFrame>
      <p:sp>
        <p:nvSpPr>
          <p:cNvPr id="4" name="Footer Placeholder 3"/>
          <p:cNvSpPr>
            <a:spLocks noGrp="1"/>
          </p:cNvSpPr>
          <p:nvPr>
            <p:ph type="ftr" sz="quarter" idx="11"/>
          </p:nvPr>
        </p:nvSpPr>
        <p:spPr/>
        <p:txBody>
          <a:bodyPr/>
          <a:lstStyle/>
          <a:p>
            <a:r>
              <a:rPr lang="en-US" sz="1800">
                <a:latin typeface="Times New Roman" panose="02020603050405020304" pitchFamily="18" charset="0"/>
                <a:cs typeface="Times New Roman" panose="02020603050405020304" pitchFamily="18" charset="0"/>
              </a:rPr>
              <a:t>Dept. of ECE</a:t>
            </a:r>
          </a:p>
        </p:txBody>
      </p:sp>
      <p:sp>
        <p:nvSpPr>
          <p:cNvPr id="5" name="Slide Number Placeholder 4"/>
          <p:cNvSpPr>
            <a:spLocks noGrp="1"/>
          </p:cNvSpPr>
          <p:nvPr>
            <p:ph type="sldNum" sz="quarter" idx="12"/>
          </p:nvPr>
        </p:nvSpPr>
        <p:spPr/>
        <p:txBody>
          <a:bodyPr/>
          <a:lstStyle/>
          <a:p>
            <a:fld id="{14664CE2-A199-492D-95BF-8BD1FF457610}"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6" name="Rectangle 206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94517" y="77089"/>
            <a:ext cx="6944037" cy="1481328"/>
          </a:xfrm>
        </p:spPr>
        <p:txBody>
          <a:bodyPr anchor="b">
            <a:normAutofit/>
          </a:bodyPr>
          <a:lstStyle/>
          <a:p>
            <a:r>
              <a:rPr lang="en-US" sz="5000" b="1" dirty="0">
                <a:solidFill>
                  <a:srgbClr val="FF0000"/>
                </a:solidFill>
                <a:latin typeface="Times New Roman" panose="02020603050405020304" pitchFamily="18" charset="0"/>
                <a:cs typeface="Times New Roman" panose="02020603050405020304" pitchFamily="18" charset="0"/>
              </a:rPr>
              <a:t>Problem Statement</a:t>
            </a:r>
          </a:p>
        </p:txBody>
      </p:sp>
      <p:sp>
        <p:nvSpPr>
          <p:cNvPr id="2067"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98764" y="2692909"/>
            <a:ext cx="4818888" cy="3547872"/>
          </a:xfrm>
        </p:spPr>
        <p:txBody>
          <a:bodyPr anchor="t">
            <a:normAutofit/>
          </a:bodyPr>
          <a:lstStyle/>
          <a:p>
            <a:r>
              <a:rPr lang="en-US" sz="2200" dirty="0"/>
              <a:t>To design a DSP based system that extracts vocals from an audio track. This approach aims to create an efficient and accessible method for vocal isolation suitable for real time applications such as karaoke , source separation etc.</a:t>
            </a:r>
          </a:p>
          <a:p>
            <a:endParaRPr lang="en-US" sz="2200" dirty="0"/>
          </a:p>
        </p:txBody>
      </p:sp>
      <p:sp>
        <p:nvSpPr>
          <p:cNvPr id="4" name="Footer Placeholder 3"/>
          <p:cNvSpPr>
            <a:spLocks noGrp="1"/>
          </p:cNvSpPr>
          <p:nvPr>
            <p:ph type="ftr" sz="quarter" idx="11"/>
          </p:nvPr>
        </p:nvSpPr>
        <p:spPr>
          <a:xfrm>
            <a:off x="4038600" y="6356350"/>
            <a:ext cx="4114800" cy="365125"/>
          </a:xfrm>
        </p:spPr>
        <p:txBody>
          <a:bodyPr>
            <a:normAutofit/>
          </a:bodyPr>
          <a:lstStyle/>
          <a:p>
            <a:pPr>
              <a:spcAft>
                <a:spcPts val="600"/>
              </a:spcAft>
            </a:pPr>
            <a:r>
              <a:rPr lang="en-US">
                <a:latin typeface="Times New Roman" panose="02020603050405020304" pitchFamily="18" charset="0"/>
                <a:cs typeface="Times New Roman" panose="02020603050405020304" pitchFamily="18" charset="0"/>
              </a:rPr>
              <a:t>Dept. of ECE</a:t>
            </a:r>
          </a:p>
        </p:txBody>
      </p:sp>
      <p:sp>
        <p:nvSpPr>
          <p:cNvPr id="5" name="Slide Number Placeholder 4"/>
          <p:cNvSpPr>
            <a:spLocks noGrp="1"/>
          </p:cNvSpPr>
          <p:nvPr>
            <p:ph type="sldNum" sz="quarter" idx="12"/>
          </p:nvPr>
        </p:nvSpPr>
        <p:spPr>
          <a:xfrm>
            <a:off x="8610600" y="6356350"/>
            <a:ext cx="2743200" cy="365125"/>
          </a:xfrm>
        </p:spPr>
        <p:txBody>
          <a:bodyPr>
            <a:normAutofit/>
          </a:bodyPr>
          <a:lstStyle/>
          <a:p>
            <a:pPr>
              <a:spcAft>
                <a:spcPts val="600"/>
              </a:spcAft>
            </a:pPr>
            <a:fld id="{14664CE2-A199-492D-95BF-8BD1FF457610}" type="slidenum">
              <a:rPr lang="en-US"/>
              <a:pPr>
                <a:spcAft>
                  <a:spcPts val="600"/>
                </a:spcAft>
              </a:pPr>
              <a:t>3</a:t>
            </a:fld>
            <a:endParaRPr lang="en-US"/>
          </a:p>
        </p:txBody>
      </p:sp>
      <p:pic>
        <p:nvPicPr>
          <p:cNvPr id="1028" name="Picture 4">
            <a:extLst>
              <a:ext uri="{FF2B5EF4-FFF2-40B4-BE49-F238E27FC236}">
                <a16:creationId xmlns:a16="http://schemas.microsoft.com/office/drawing/2014/main" id="{5E22CF72-601C-2F79-29FB-84FEE69BDCE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30194"/>
          <a:stretch/>
        </p:blipFill>
        <p:spPr bwMode="auto">
          <a:xfrm>
            <a:off x="5838014" y="1956671"/>
            <a:ext cx="5965796" cy="40460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6791" y="0"/>
            <a:ext cx="8818418" cy="1212706"/>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415635" y="937996"/>
            <a:ext cx="11294919" cy="5418354"/>
          </a:xfrm>
        </p:spPr>
        <p:txBody>
          <a:bodyPr>
            <a:normAutofit fontScale="97500"/>
          </a:bodyPr>
          <a:lstStyle/>
          <a:p>
            <a:r>
              <a:rPr lang="en-US" sz="2500" dirty="0"/>
              <a:t>Vocal removal, or extracting vocals from music tracks, plays a vital role in applications like remixing, karaoke, and audio analysis. This process enables users to isolate vocals or background music, allowing flexibility in music production and research.</a:t>
            </a:r>
          </a:p>
          <a:p>
            <a:r>
              <a:rPr lang="en-US" sz="2500" dirty="0"/>
              <a:t>Conventional approaches relied on filters and frequency separation, which often struggled with intricate audio mixtures. However, stereo channel subtraction offers a simpler yet effective method by leveraging the natural differences between left and right channels in dual-channel audio.</a:t>
            </a:r>
          </a:p>
          <a:p>
            <a:r>
              <a:rPr lang="en-US" sz="2500" dirty="0"/>
              <a:t>In this approach, the difference between stereo channels is computed to suppress the centered vocal components while preserving the background music. Median filtering is then applied to enhance the separation quality further.</a:t>
            </a:r>
          </a:p>
          <a:p>
            <a:r>
              <a:rPr lang="en-US" sz="2500" dirty="0"/>
              <a:t>This DSP-based method avoids reliance on machine learning algorithms and focuses entirely on signal processing techniques, making it an efficient solution for vocal extraction and karaoke track creation. The approach is widely applicable in remixing, music production, and other audio engineering tasks</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z="1800">
                <a:latin typeface="Times New Roman" panose="02020603050405020304" pitchFamily="18" charset="0"/>
                <a:cs typeface="Times New Roman" panose="02020603050405020304" pitchFamily="18" charset="0"/>
              </a:rPr>
              <a:t>Dept. of ECE</a:t>
            </a:r>
          </a:p>
        </p:txBody>
      </p:sp>
      <p:sp>
        <p:nvSpPr>
          <p:cNvPr id="5" name="Slide Number Placeholder 4"/>
          <p:cNvSpPr>
            <a:spLocks noGrp="1"/>
          </p:cNvSpPr>
          <p:nvPr>
            <p:ph type="sldNum" sz="quarter" idx="12"/>
          </p:nvPr>
        </p:nvSpPr>
        <p:spPr/>
        <p:txBody>
          <a:bodyPr/>
          <a:lstStyle/>
          <a:p>
            <a:fld id="{14664CE2-A199-492D-95BF-8BD1FF457610}"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1665C-E71A-BB7C-876E-CCC52A155AF1}"/>
              </a:ext>
            </a:extLst>
          </p:cNvPr>
          <p:cNvSpPr>
            <a:spLocks noGrp="1"/>
          </p:cNvSpPr>
          <p:nvPr>
            <p:ph type="title"/>
          </p:nvPr>
        </p:nvSpPr>
        <p:spPr>
          <a:xfrm>
            <a:off x="190499" y="136525"/>
            <a:ext cx="10515600" cy="1325563"/>
          </a:xfrm>
        </p:spPr>
        <p:txBody>
          <a:bodyPr/>
          <a:lstStyle/>
          <a:p>
            <a:pPr marL="571500" indent="-571500">
              <a:buFont typeface="Wingdings" panose="05000000000000000000" pitchFamily="2" charset="2"/>
              <a:buChar char="Ø"/>
            </a:pPr>
            <a:r>
              <a:rPr lang="en-US" dirty="0"/>
              <a:t>How it works?</a:t>
            </a:r>
            <a:endParaRPr lang="en-IN" dirty="0"/>
          </a:p>
        </p:txBody>
      </p:sp>
      <p:sp>
        <p:nvSpPr>
          <p:cNvPr id="4" name="Footer Placeholder 3">
            <a:extLst>
              <a:ext uri="{FF2B5EF4-FFF2-40B4-BE49-F238E27FC236}">
                <a16:creationId xmlns:a16="http://schemas.microsoft.com/office/drawing/2014/main" id="{A2AAF2A6-F484-831A-F352-0F54F7BFDBDE}"/>
              </a:ext>
            </a:extLst>
          </p:cNvPr>
          <p:cNvSpPr>
            <a:spLocks noGrp="1"/>
          </p:cNvSpPr>
          <p:nvPr>
            <p:ph type="ftr" sz="quarter" idx="11"/>
          </p:nvPr>
        </p:nvSpPr>
        <p:spPr/>
        <p:txBody>
          <a:bodyPr/>
          <a:lstStyle/>
          <a:p>
            <a:r>
              <a:rPr lang="en-US"/>
              <a:t>Dept. of ECE</a:t>
            </a:r>
          </a:p>
        </p:txBody>
      </p:sp>
      <p:sp>
        <p:nvSpPr>
          <p:cNvPr id="5" name="Slide Number Placeholder 4">
            <a:extLst>
              <a:ext uri="{FF2B5EF4-FFF2-40B4-BE49-F238E27FC236}">
                <a16:creationId xmlns:a16="http://schemas.microsoft.com/office/drawing/2014/main" id="{F6C2E744-3EB2-F25B-20D0-006A7FADEBE7}"/>
              </a:ext>
            </a:extLst>
          </p:cNvPr>
          <p:cNvSpPr>
            <a:spLocks noGrp="1"/>
          </p:cNvSpPr>
          <p:nvPr>
            <p:ph type="sldNum" sz="quarter" idx="12"/>
          </p:nvPr>
        </p:nvSpPr>
        <p:spPr/>
        <p:txBody>
          <a:bodyPr/>
          <a:lstStyle/>
          <a:p>
            <a:fld id="{14664CE2-A199-492D-95BF-8BD1FF457610}" type="slidenum">
              <a:rPr lang="en-US" smtClean="0"/>
              <a:t>5</a:t>
            </a:fld>
            <a:endParaRPr lang="en-US"/>
          </a:p>
        </p:txBody>
      </p:sp>
      <p:sp>
        <p:nvSpPr>
          <p:cNvPr id="11" name="Rectangle 2">
            <a:extLst>
              <a:ext uri="{FF2B5EF4-FFF2-40B4-BE49-F238E27FC236}">
                <a16:creationId xmlns:a16="http://schemas.microsoft.com/office/drawing/2014/main" id="{00E436DB-47B5-CA86-06C2-0B46CCAF0D77}"/>
              </a:ext>
            </a:extLst>
          </p:cNvPr>
          <p:cNvSpPr>
            <a:spLocks noGrp="1" noChangeArrowheads="1"/>
          </p:cNvSpPr>
          <p:nvPr>
            <p:ph idx="1"/>
          </p:nvPr>
        </p:nvSpPr>
        <p:spPr bwMode="auto">
          <a:xfrm>
            <a:off x="321833" y="1212617"/>
            <a:ext cx="11679668"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rgbClr val="FF0000"/>
                </a:solidFill>
                <a:effectLst/>
                <a:latin typeface="Arial" panose="020B0604020202020204" pitchFamily="34" charset="0"/>
              </a:rPr>
              <a:t>1.Stereo Channel Subtraction</a:t>
            </a:r>
            <a:endParaRPr kumimoji="0" lang="en-US" altLang="en-US" sz="20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input will be </a:t>
            </a:r>
            <a:r>
              <a:rPr lang="en-US" altLang="en-US" sz="2000" dirty="0">
                <a:latin typeface="Arial" panose="020B0604020202020204" pitchFamily="34" charset="0"/>
              </a:rPr>
              <a:t>in the .wav format, if it is in MP3 format, we have a option to convert it to .wav format with a single button.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Stereo audio tracks typically have vocals placed at the center of the mix, while instruments and other elements are spread across the stereo field.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By subtracting the left channel from the right channel (or vice versa), the centered components, such as vocals, are significantly attenuated, leaving behind primarily the stereo elements of the background music.</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rgbClr val="FF0000"/>
                </a:solidFill>
                <a:effectLst/>
                <a:latin typeface="Arial" panose="020B0604020202020204" pitchFamily="34" charset="0"/>
              </a:rPr>
              <a:t>2.Band-Stop IIR filter: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The </a:t>
            </a:r>
            <a:r>
              <a:rPr kumimoji="0" lang="en-US" altLang="en-US" sz="1800" b="1" i="0" u="none" strike="noStrike" cap="none" normalizeH="0" baseline="0" dirty="0">
                <a:ln>
                  <a:noFill/>
                </a:ln>
                <a:solidFill>
                  <a:schemeClr val="tx1"/>
                </a:solidFill>
                <a:effectLst/>
                <a:latin typeface="Arial" panose="020B0604020202020204" pitchFamily="34" charset="0"/>
              </a:rPr>
              <a:t>bandstop IIR ((Infinite Impulse Response) filter</a:t>
            </a:r>
            <a:r>
              <a:rPr kumimoji="0" lang="en-US" altLang="en-US" sz="1800" b="0" i="0" u="none" strike="noStrike" cap="none" normalizeH="0" baseline="0" dirty="0">
                <a:ln>
                  <a:noFill/>
                </a:ln>
                <a:solidFill>
                  <a:schemeClr val="tx1"/>
                </a:solidFill>
                <a:effectLst/>
                <a:latin typeface="Arial" panose="020B0604020202020204" pitchFamily="34" charset="0"/>
              </a:rPr>
              <a:t> suppresses frequencies within a specific band, such as the vocal range (300 Hz to 3000 Hz).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a:t>
            </a:r>
            <a:r>
              <a:rPr kumimoji="0" lang="en-US" altLang="en-US" sz="1800" b="1" i="0" u="none" strike="noStrike" cap="none" normalizeH="0" baseline="0" dirty="0">
                <a:ln>
                  <a:noFill/>
                </a:ln>
                <a:solidFill>
                  <a:schemeClr val="tx1"/>
                </a:solidFill>
                <a:effectLst/>
                <a:latin typeface="Arial" panose="020B0604020202020204" pitchFamily="34" charset="0"/>
              </a:rPr>
              <a:t>attenuates unwanted frequencies</a:t>
            </a:r>
            <a:r>
              <a:rPr kumimoji="0" lang="en-US" altLang="en-US" sz="1800" b="0" i="0" u="none" strike="noStrike" cap="none" normalizeH="0" baseline="0" dirty="0">
                <a:ln>
                  <a:noFill/>
                </a:ln>
                <a:solidFill>
                  <a:schemeClr val="tx1"/>
                </a:solidFill>
                <a:effectLst/>
                <a:latin typeface="Arial" panose="020B0604020202020204" pitchFamily="34" charset="0"/>
              </a:rPr>
              <a:t> while allowing other frequencies to pass through unaffected.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filter is designed with a </a:t>
            </a:r>
            <a:r>
              <a:rPr kumimoji="0" lang="en-US" altLang="en-US" sz="1800" b="1" i="0" u="none" strike="noStrike" cap="none" normalizeH="0" baseline="0" dirty="0">
                <a:ln>
                  <a:noFill/>
                </a:ln>
                <a:solidFill>
                  <a:schemeClr val="tx1"/>
                </a:solidFill>
                <a:effectLst/>
                <a:latin typeface="Arial" panose="020B0604020202020204" pitchFamily="34" charset="0"/>
              </a:rPr>
              <a:t>specified filter order</a:t>
            </a:r>
            <a:r>
              <a:rPr kumimoji="0" lang="en-US" altLang="en-US" sz="1800" b="0" i="0" u="none" strike="noStrike" cap="none" normalizeH="0" baseline="0" dirty="0">
                <a:ln>
                  <a:noFill/>
                </a:ln>
                <a:solidFill>
                  <a:schemeClr val="tx1"/>
                </a:solidFill>
                <a:effectLst/>
                <a:latin typeface="Arial" panose="020B0604020202020204" pitchFamily="34" charset="0"/>
              </a:rPr>
              <a:t> to control the sharpness of the cutoff and improve vocal suppression.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7903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A65846-4AA1-B03B-4CFE-1B5ED9D017C0}"/>
              </a:ext>
            </a:extLst>
          </p:cNvPr>
          <p:cNvSpPr>
            <a:spLocks noGrp="1"/>
          </p:cNvSpPr>
          <p:nvPr>
            <p:ph type="ftr" sz="quarter" idx="11"/>
          </p:nvPr>
        </p:nvSpPr>
        <p:spPr/>
        <p:txBody>
          <a:bodyPr/>
          <a:lstStyle/>
          <a:p>
            <a:r>
              <a:rPr lang="en-US"/>
              <a:t>Dept. of ECE</a:t>
            </a:r>
          </a:p>
        </p:txBody>
      </p:sp>
      <p:sp>
        <p:nvSpPr>
          <p:cNvPr id="3" name="Slide Number Placeholder 2">
            <a:extLst>
              <a:ext uri="{FF2B5EF4-FFF2-40B4-BE49-F238E27FC236}">
                <a16:creationId xmlns:a16="http://schemas.microsoft.com/office/drawing/2014/main" id="{79102243-C97D-E803-F70E-DC264430D0D3}"/>
              </a:ext>
            </a:extLst>
          </p:cNvPr>
          <p:cNvSpPr>
            <a:spLocks noGrp="1"/>
          </p:cNvSpPr>
          <p:nvPr>
            <p:ph type="sldNum" sz="quarter" idx="12"/>
          </p:nvPr>
        </p:nvSpPr>
        <p:spPr/>
        <p:txBody>
          <a:bodyPr/>
          <a:lstStyle/>
          <a:p>
            <a:fld id="{14664CE2-A199-492D-95BF-8BD1FF457610}" type="slidenum">
              <a:rPr lang="en-US" smtClean="0"/>
              <a:t>6</a:t>
            </a:fld>
            <a:endParaRPr lang="en-US"/>
          </a:p>
        </p:txBody>
      </p:sp>
      <p:sp>
        <p:nvSpPr>
          <p:cNvPr id="6" name="Rectangle 2">
            <a:extLst>
              <a:ext uri="{FF2B5EF4-FFF2-40B4-BE49-F238E27FC236}">
                <a16:creationId xmlns:a16="http://schemas.microsoft.com/office/drawing/2014/main" id="{BAD2CB8E-A162-1444-8AC3-610271F45038}"/>
              </a:ext>
            </a:extLst>
          </p:cNvPr>
          <p:cNvSpPr>
            <a:spLocks noChangeArrowheads="1"/>
          </p:cNvSpPr>
          <p:nvPr/>
        </p:nvSpPr>
        <p:spPr bwMode="auto">
          <a:xfrm>
            <a:off x="178377" y="286840"/>
            <a:ext cx="11835246" cy="5847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a:ln>
                  <a:noFill/>
                </a:ln>
                <a:solidFill>
                  <a:srgbClr val="FF0000"/>
                </a:solidFill>
                <a:effectLst/>
                <a:latin typeface="Arial" panose="020B0604020202020204" pitchFamily="34" charset="0"/>
              </a:rPr>
              <a:t>3.Advantages of This Approach</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No Machine Learning Dependency</a:t>
            </a:r>
            <a:r>
              <a:rPr kumimoji="0" lang="en-US" altLang="en-US" sz="2200" b="0" i="0" u="none" strike="noStrike" cap="none" normalizeH="0" baseline="0" dirty="0">
                <a:ln>
                  <a:noFill/>
                </a:ln>
                <a:solidFill>
                  <a:schemeClr val="tx1"/>
                </a:solidFill>
                <a:effectLst/>
                <a:latin typeface="Arial" panose="020B0604020202020204" pitchFamily="34" charset="0"/>
              </a:rPr>
              <a:t>: This technique relies solely on signal processing principles, making it computationally efficient and suitable for standalone applications.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Real-Time Processing</a:t>
            </a:r>
            <a:r>
              <a:rPr kumimoji="0" lang="en-US" altLang="en-US" sz="2200" b="0" i="0" u="none" strike="noStrike" cap="none" normalizeH="0" baseline="0" dirty="0">
                <a:ln>
                  <a:noFill/>
                </a:ln>
                <a:solidFill>
                  <a:schemeClr val="tx1"/>
                </a:solidFill>
                <a:effectLst/>
                <a:latin typeface="Arial" panose="020B0604020202020204" pitchFamily="34" charset="0"/>
              </a:rPr>
              <a:t>: The simplicity of the algorithm allows for near real-time processing of audio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Wide Applicability</a:t>
            </a:r>
            <a:r>
              <a:rPr kumimoji="0" lang="en-US" altLang="en-US" sz="2200" b="0" i="0" u="none" strike="noStrike" cap="none" normalizeH="0" baseline="0" dirty="0">
                <a:ln>
                  <a:noFill/>
                </a:ln>
                <a:solidFill>
                  <a:schemeClr val="tx1"/>
                </a:solidFill>
                <a:effectLst/>
                <a:latin typeface="Arial" panose="020B0604020202020204" pitchFamily="34" charset="0"/>
              </a:rPr>
              <a:t>: This method is effective for creating karaoke tracks, remixing songs, and other music production tasks.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a:ln>
                  <a:noFill/>
                </a:ln>
                <a:solidFill>
                  <a:srgbClr val="FF0000"/>
                </a:solidFill>
                <a:effectLst/>
                <a:latin typeface="Arial" panose="020B0604020202020204" pitchFamily="34" charset="0"/>
              </a:rPr>
              <a:t>4.Limitations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The method assumes vocals are perfectly centered, which may not be true for all audio tracks.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Some instruments or effects that are also centered in the stereo mix may get attenuated along with the vocals.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Highly complex audio mixtures may still leave residual artifacts after processing.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52197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265CF6-3EF8-9C65-866F-8C930C1B04A0}"/>
              </a:ext>
            </a:extLst>
          </p:cNvPr>
          <p:cNvSpPr>
            <a:spLocks noGrp="1"/>
          </p:cNvSpPr>
          <p:nvPr>
            <p:ph type="ftr" sz="quarter" idx="11"/>
          </p:nvPr>
        </p:nvSpPr>
        <p:spPr/>
        <p:txBody>
          <a:bodyPr/>
          <a:lstStyle/>
          <a:p>
            <a:r>
              <a:rPr lang="en-US"/>
              <a:t>Dept. of ECE</a:t>
            </a:r>
          </a:p>
        </p:txBody>
      </p:sp>
      <p:sp>
        <p:nvSpPr>
          <p:cNvPr id="3" name="Slide Number Placeholder 2">
            <a:extLst>
              <a:ext uri="{FF2B5EF4-FFF2-40B4-BE49-F238E27FC236}">
                <a16:creationId xmlns:a16="http://schemas.microsoft.com/office/drawing/2014/main" id="{61E5F4A3-6DB9-417D-7C0C-E22DA6B1E560}"/>
              </a:ext>
            </a:extLst>
          </p:cNvPr>
          <p:cNvSpPr>
            <a:spLocks noGrp="1"/>
          </p:cNvSpPr>
          <p:nvPr>
            <p:ph type="sldNum" sz="quarter" idx="12"/>
          </p:nvPr>
        </p:nvSpPr>
        <p:spPr/>
        <p:txBody>
          <a:bodyPr/>
          <a:lstStyle/>
          <a:p>
            <a:fld id="{14664CE2-A199-492D-95BF-8BD1FF457610}" type="slidenum">
              <a:rPr lang="en-US" smtClean="0"/>
              <a:t>7</a:t>
            </a:fld>
            <a:endParaRPr lang="en-US"/>
          </a:p>
        </p:txBody>
      </p:sp>
      <p:sp>
        <p:nvSpPr>
          <p:cNvPr id="4" name="TextBox 3">
            <a:extLst>
              <a:ext uri="{FF2B5EF4-FFF2-40B4-BE49-F238E27FC236}">
                <a16:creationId xmlns:a16="http://schemas.microsoft.com/office/drawing/2014/main" id="{7417FAE3-D0A5-1855-C2F2-A9ADFA2DA329}"/>
              </a:ext>
            </a:extLst>
          </p:cNvPr>
          <p:cNvSpPr txBox="1"/>
          <p:nvPr/>
        </p:nvSpPr>
        <p:spPr>
          <a:xfrm>
            <a:off x="181897" y="478831"/>
            <a:ext cx="11828206" cy="4247317"/>
          </a:xfrm>
          <a:prstGeom prst="rect">
            <a:avLst/>
          </a:prstGeom>
          <a:noFill/>
        </p:spPr>
        <p:txBody>
          <a:bodyPr wrap="square" rtlCol="0">
            <a:spAutoFit/>
          </a:bodyPr>
          <a:lstStyle/>
          <a:p>
            <a:r>
              <a:rPr lang="en-US" sz="3600" b="1" dirty="0">
                <a:solidFill>
                  <a:srgbClr val="FF0000"/>
                </a:solidFill>
              </a:rPr>
              <a:t>Filter Specifications:</a:t>
            </a:r>
          </a:p>
          <a:p>
            <a:endParaRPr lang="en-US" dirty="0"/>
          </a:p>
          <a:p>
            <a:pPr marL="285750" indent="-285750">
              <a:buFont typeface="Arial" panose="020B0604020202020204" pitchFamily="34" charset="0"/>
              <a:buChar char="•"/>
            </a:pPr>
            <a:r>
              <a:rPr lang="en-US" dirty="0"/>
              <a:t>The filter used is BandstopIIR filter of the order 4 and frequency range 300Hz to 3000Hz.</a:t>
            </a:r>
          </a:p>
          <a:p>
            <a:endParaRPr lang="en-US" dirty="0"/>
          </a:p>
          <a:p>
            <a:pPr eaLnBrk="0" fontAlgn="base" hangingPunct="0">
              <a:spcBef>
                <a:spcPct val="0"/>
              </a:spcBef>
              <a:spcAft>
                <a:spcPct val="0"/>
              </a:spcAft>
              <a:buFontTx/>
              <a:buChar char="•"/>
            </a:pPr>
            <a:r>
              <a:rPr lang="en-US" altLang="en-US" b="1" dirty="0">
                <a:latin typeface="Arial" panose="020B0604020202020204" pitchFamily="34" charset="0"/>
              </a:rPr>
              <a:t>4th Order:</a:t>
            </a:r>
            <a:r>
              <a:rPr lang="en-US" altLang="en-US" dirty="0">
                <a:latin typeface="Arial" panose="020B0604020202020204" pitchFamily="34" charset="0"/>
              </a:rPr>
              <a:t> Provides good attenuation without overly distorting the music. Higher orders (e.g., 8) might introduce unwanted phase artifacts.</a:t>
            </a:r>
          </a:p>
          <a:p>
            <a:pPr eaLnBrk="0" fontAlgn="base" hangingPunct="0">
              <a:spcBef>
                <a:spcPct val="0"/>
              </a:spcBef>
              <a:spcAft>
                <a:spcPct val="0"/>
              </a:spcAft>
              <a:buFontTx/>
              <a:buChar char="•"/>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Frequency range: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300 Hz</a:t>
            </a:r>
            <a:r>
              <a:rPr kumimoji="0" lang="en-US" altLang="en-US" sz="1800" b="0" i="0" u="none" strike="noStrike" cap="none" normalizeH="0" baseline="0" dirty="0">
                <a:ln>
                  <a:noFill/>
                </a:ln>
                <a:solidFill>
                  <a:schemeClr val="tx1"/>
                </a:solidFill>
                <a:effectLst/>
                <a:latin typeface="Arial" panose="020B0604020202020204" pitchFamily="34" charset="0"/>
              </a:rPr>
              <a:t> is chosen because most male vocals start around 300 Hz.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3000 Hz</a:t>
            </a:r>
            <a:r>
              <a:rPr kumimoji="0" lang="en-US" altLang="en-US" sz="1800" b="0" i="0" u="none" strike="noStrike" cap="none" normalizeH="0" baseline="0" dirty="0">
                <a:ln>
                  <a:noFill/>
                </a:ln>
                <a:solidFill>
                  <a:schemeClr val="tx1"/>
                </a:solidFill>
                <a:effectLst/>
                <a:latin typeface="Arial" panose="020B0604020202020204" pitchFamily="34" charset="0"/>
              </a:rPr>
              <a:t> is chosen to suppress harmonics and sibilance that can extend up to this frequency.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Frequencies below </a:t>
            </a:r>
            <a:r>
              <a:rPr kumimoji="0" lang="en-US" altLang="en-US" sz="1800" b="1" i="0" u="none" strike="noStrike" cap="none" normalizeH="0" baseline="0" dirty="0">
                <a:ln>
                  <a:noFill/>
                </a:ln>
                <a:solidFill>
                  <a:schemeClr val="tx1"/>
                </a:solidFill>
                <a:effectLst/>
                <a:latin typeface="Arial" panose="020B0604020202020204" pitchFamily="34" charset="0"/>
              </a:rPr>
              <a:t>300 Hz</a:t>
            </a:r>
            <a:r>
              <a:rPr kumimoji="0" lang="en-US" altLang="en-US" sz="1800" b="0" i="0" u="none" strike="noStrike" cap="none" normalizeH="0" baseline="0" dirty="0">
                <a:ln>
                  <a:noFill/>
                </a:ln>
                <a:solidFill>
                  <a:schemeClr val="tx1"/>
                </a:solidFill>
                <a:effectLst/>
                <a:latin typeface="Arial" panose="020B0604020202020204" pitchFamily="34" charset="0"/>
              </a:rPr>
              <a:t> and above </a:t>
            </a:r>
            <a:r>
              <a:rPr kumimoji="0" lang="en-US" altLang="en-US" sz="1800" b="1" i="0" u="none" strike="noStrike" cap="none" normalizeH="0" baseline="0" dirty="0">
                <a:ln>
                  <a:noFill/>
                </a:ln>
                <a:solidFill>
                  <a:schemeClr val="tx1"/>
                </a:solidFill>
                <a:effectLst/>
                <a:latin typeface="Arial" panose="020B0604020202020204" pitchFamily="34" charset="0"/>
              </a:rPr>
              <a:t>3000 Hz</a:t>
            </a:r>
            <a:r>
              <a:rPr kumimoji="0" lang="en-US" altLang="en-US" sz="1800" b="0" i="0" u="none" strike="noStrike" cap="none" normalizeH="0" baseline="0" dirty="0">
                <a:ln>
                  <a:noFill/>
                </a:ln>
                <a:solidFill>
                  <a:schemeClr val="tx1"/>
                </a:solidFill>
                <a:effectLst/>
                <a:latin typeface="Arial" panose="020B0604020202020204" pitchFamily="34" charset="0"/>
              </a:rPr>
              <a:t> are preserved to keep the instrumental and percussive elements intact.</a:t>
            </a:r>
          </a:p>
          <a:p>
            <a:endParaRPr lang="en-US" dirty="0"/>
          </a:p>
          <a:p>
            <a:r>
              <a:rPr lang="en-US" dirty="0"/>
              <a:t> </a:t>
            </a:r>
            <a:endParaRPr lang="en-IN" dirty="0"/>
          </a:p>
        </p:txBody>
      </p:sp>
    </p:spTree>
    <p:extLst>
      <p:ext uri="{BB962C8B-B14F-4D97-AF65-F5344CB8AC3E}">
        <p14:creationId xmlns:p14="http://schemas.microsoft.com/office/powerpoint/2010/main" val="2163175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AC3EF3C-600E-CA24-9AA6-89262BB1DC4D}"/>
              </a:ext>
            </a:extLst>
          </p:cNvPr>
          <p:cNvSpPr>
            <a:spLocks noGrp="1"/>
          </p:cNvSpPr>
          <p:nvPr>
            <p:ph type="sldNum" sz="quarter" idx="12"/>
          </p:nvPr>
        </p:nvSpPr>
        <p:spPr/>
        <p:txBody>
          <a:bodyPr/>
          <a:lstStyle/>
          <a:p>
            <a:fld id="{14664CE2-A199-492D-95BF-8BD1FF457610}" type="slidenum">
              <a:rPr lang="en-US" smtClean="0"/>
              <a:t>8</a:t>
            </a:fld>
            <a:endParaRPr lang="en-US"/>
          </a:p>
        </p:txBody>
      </p:sp>
      <p:pic>
        <p:nvPicPr>
          <p:cNvPr id="3076" name="Picture 4">
            <a:extLst>
              <a:ext uri="{FF2B5EF4-FFF2-40B4-BE49-F238E27FC236}">
                <a16:creationId xmlns:a16="http://schemas.microsoft.com/office/drawing/2014/main" id="{611D9A54-BD0D-6A15-F97D-32597884AB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2056" y="0"/>
            <a:ext cx="2147887"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4384AEC4-98FC-87CB-025E-3F3079EB8235}"/>
              </a:ext>
            </a:extLst>
          </p:cNvPr>
          <p:cNvSpPr/>
          <p:nvPr/>
        </p:nvSpPr>
        <p:spPr>
          <a:xfrm>
            <a:off x="5732206" y="373626"/>
            <a:ext cx="825910" cy="19664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6A28125F-038C-A3D9-6A4E-F80DD1E5E8AB}"/>
              </a:ext>
            </a:extLst>
          </p:cNvPr>
          <p:cNvSpPr/>
          <p:nvPr/>
        </p:nvSpPr>
        <p:spPr>
          <a:xfrm>
            <a:off x="5732206" y="1002890"/>
            <a:ext cx="825910" cy="48178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DD444B48-2993-8787-2339-E17398D1487C}"/>
              </a:ext>
            </a:extLst>
          </p:cNvPr>
          <p:cNvSpPr/>
          <p:nvPr/>
        </p:nvSpPr>
        <p:spPr>
          <a:xfrm>
            <a:off x="5160502" y="1917290"/>
            <a:ext cx="825910" cy="3651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Rounded Corners 7">
            <a:extLst>
              <a:ext uri="{FF2B5EF4-FFF2-40B4-BE49-F238E27FC236}">
                <a16:creationId xmlns:a16="http://schemas.microsoft.com/office/drawing/2014/main" id="{10F68987-0504-4CA7-AA69-70113CD97604}"/>
              </a:ext>
            </a:extLst>
          </p:cNvPr>
          <p:cNvSpPr/>
          <p:nvPr/>
        </p:nvSpPr>
        <p:spPr>
          <a:xfrm>
            <a:off x="6233652" y="1917290"/>
            <a:ext cx="825910" cy="3651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7356EE54-4891-3C34-077F-2B1EBC96F64E}"/>
              </a:ext>
            </a:extLst>
          </p:cNvPr>
          <p:cNvSpPr/>
          <p:nvPr/>
        </p:nvSpPr>
        <p:spPr>
          <a:xfrm>
            <a:off x="5732206" y="2715034"/>
            <a:ext cx="825910" cy="71396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B2619C44-14C9-C64C-BA0E-45CE5E73A8E1}"/>
              </a:ext>
            </a:extLst>
          </p:cNvPr>
          <p:cNvSpPr/>
          <p:nvPr/>
        </p:nvSpPr>
        <p:spPr>
          <a:xfrm>
            <a:off x="5653548" y="3861619"/>
            <a:ext cx="973394" cy="55040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233ADAED-0E15-F2F1-75B9-2A6BCA39DDDB}"/>
              </a:ext>
            </a:extLst>
          </p:cNvPr>
          <p:cNvSpPr/>
          <p:nvPr/>
        </p:nvSpPr>
        <p:spPr>
          <a:xfrm>
            <a:off x="5653548" y="4853346"/>
            <a:ext cx="982663" cy="57877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B83F2E3A-E276-B18F-846E-D5CEBD5B8FBB}"/>
              </a:ext>
            </a:extLst>
          </p:cNvPr>
          <p:cNvSpPr/>
          <p:nvPr/>
        </p:nvSpPr>
        <p:spPr>
          <a:xfrm>
            <a:off x="5604950" y="5944060"/>
            <a:ext cx="982663" cy="57877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A7E9FBE6-3C49-FCF7-4968-5BB8FCD7FBD0}"/>
              </a:ext>
            </a:extLst>
          </p:cNvPr>
          <p:cNvSpPr txBox="1"/>
          <p:nvPr/>
        </p:nvSpPr>
        <p:spPr>
          <a:xfrm>
            <a:off x="127819" y="186813"/>
            <a:ext cx="4282410" cy="707886"/>
          </a:xfrm>
          <a:prstGeom prst="rect">
            <a:avLst/>
          </a:prstGeom>
          <a:noFill/>
        </p:spPr>
        <p:txBody>
          <a:bodyPr wrap="square" rtlCol="0">
            <a:spAutoFit/>
          </a:bodyPr>
          <a:lstStyle/>
          <a:p>
            <a:r>
              <a:rPr lang="en-US" sz="4000" b="1" u="sng" dirty="0">
                <a:solidFill>
                  <a:srgbClr val="FF0000"/>
                </a:solidFill>
              </a:rPr>
              <a:t>Block Diagram:</a:t>
            </a:r>
            <a:endParaRPr lang="en-IN" sz="4000" b="1" u="sng" dirty="0">
              <a:solidFill>
                <a:srgbClr val="FF0000"/>
              </a:solidFill>
            </a:endParaRPr>
          </a:p>
        </p:txBody>
      </p:sp>
    </p:spTree>
    <p:extLst>
      <p:ext uri="{BB962C8B-B14F-4D97-AF65-F5344CB8AC3E}">
        <p14:creationId xmlns:p14="http://schemas.microsoft.com/office/powerpoint/2010/main" val="4048319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CA48D6-2910-F62E-198B-4F132499E724}"/>
              </a:ext>
            </a:extLst>
          </p:cNvPr>
          <p:cNvSpPr>
            <a:spLocks noGrp="1"/>
          </p:cNvSpPr>
          <p:nvPr>
            <p:ph type="ftr" sz="quarter" idx="11"/>
          </p:nvPr>
        </p:nvSpPr>
        <p:spPr/>
        <p:txBody>
          <a:bodyPr/>
          <a:lstStyle/>
          <a:p>
            <a:r>
              <a:rPr lang="en-US"/>
              <a:t>Dept. of ECE</a:t>
            </a:r>
          </a:p>
        </p:txBody>
      </p:sp>
      <p:sp>
        <p:nvSpPr>
          <p:cNvPr id="3" name="Slide Number Placeholder 2">
            <a:extLst>
              <a:ext uri="{FF2B5EF4-FFF2-40B4-BE49-F238E27FC236}">
                <a16:creationId xmlns:a16="http://schemas.microsoft.com/office/drawing/2014/main" id="{F272B9B8-5E9E-9BD6-07F4-56AFCB52E988}"/>
              </a:ext>
            </a:extLst>
          </p:cNvPr>
          <p:cNvSpPr>
            <a:spLocks noGrp="1"/>
          </p:cNvSpPr>
          <p:nvPr>
            <p:ph type="sldNum" sz="quarter" idx="12"/>
          </p:nvPr>
        </p:nvSpPr>
        <p:spPr/>
        <p:txBody>
          <a:bodyPr/>
          <a:lstStyle/>
          <a:p>
            <a:fld id="{14664CE2-A199-492D-95BF-8BD1FF457610}" type="slidenum">
              <a:rPr lang="en-US" smtClean="0"/>
              <a:t>9</a:t>
            </a:fld>
            <a:endParaRPr lang="en-US"/>
          </a:p>
        </p:txBody>
      </p:sp>
      <p:sp>
        <p:nvSpPr>
          <p:cNvPr id="5" name="Slide Number Placeholder 4">
            <a:extLst>
              <a:ext uri="{FF2B5EF4-FFF2-40B4-BE49-F238E27FC236}">
                <a16:creationId xmlns:a16="http://schemas.microsoft.com/office/drawing/2014/main" id="{21DDDC47-ED0F-1D82-EB86-F59C095E5E9F}"/>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664CE2-A199-492D-95BF-8BD1FF457610}" type="slidenum">
              <a:rPr lang="en-US" smtClean="0"/>
              <a:pPr/>
              <a:t>9</a:t>
            </a:fld>
            <a:endParaRPr lang="en-US"/>
          </a:p>
        </p:txBody>
      </p:sp>
      <p:sp>
        <p:nvSpPr>
          <p:cNvPr id="6" name="TextBox 5">
            <a:extLst>
              <a:ext uri="{FF2B5EF4-FFF2-40B4-BE49-F238E27FC236}">
                <a16:creationId xmlns:a16="http://schemas.microsoft.com/office/drawing/2014/main" id="{B0455843-D29E-A428-11C0-10AC0A2CC5AF}"/>
              </a:ext>
            </a:extLst>
          </p:cNvPr>
          <p:cNvSpPr txBox="1"/>
          <p:nvPr/>
        </p:nvSpPr>
        <p:spPr>
          <a:xfrm>
            <a:off x="161451" y="220381"/>
            <a:ext cx="9351818" cy="3231654"/>
          </a:xfrm>
          <a:prstGeom prst="rect">
            <a:avLst/>
          </a:prstGeom>
          <a:noFill/>
        </p:spPr>
        <p:txBody>
          <a:bodyPr wrap="square" rtlCol="0">
            <a:spAutoFit/>
          </a:bodyPr>
          <a:lstStyle/>
          <a:p>
            <a:r>
              <a:rPr lang="en-US" sz="3200" b="1" u="sng" dirty="0">
                <a:solidFill>
                  <a:srgbClr val="FF0000"/>
                </a:solidFill>
              </a:rPr>
              <a:t>INPUT DATA:</a:t>
            </a:r>
          </a:p>
          <a:p>
            <a:endParaRPr lang="en-US" sz="3200" b="1" u="sng" dirty="0">
              <a:solidFill>
                <a:srgbClr val="FF0000"/>
              </a:solidFill>
            </a:endParaRPr>
          </a:p>
          <a:p>
            <a:r>
              <a:rPr lang="en-US" sz="2000" dirty="0"/>
              <a:t>1.The input data should be in the .wav format.</a:t>
            </a:r>
          </a:p>
          <a:p>
            <a:pPr marL="342900" indent="-342900">
              <a:buFont typeface="Wingdings" panose="05000000000000000000" pitchFamily="2" charset="2"/>
              <a:buChar char="q"/>
            </a:pPr>
            <a:endParaRPr lang="en-US" sz="2000" dirty="0"/>
          </a:p>
          <a:p>
            <a:r>
              <a:rPr lang="en-US" sz="2000" dirty="0"/>
              <a:t>2.If the audio file is in Mp3 format , we can convert it to desired fie format using a single button.</a:t>
            </a:r>
          </a:p>
          <a:p>
            <a:endParaRPr lang="en-US" sz="2000" dirty="0"/>
          </a:p>
          <a:p>
            <a:r>
              <a:rPr lang="en-US" sz="2000" dirty="0"/>
              <a:t>3.The program will sample the Mp3 format then the MATLAB has a feature to convert it to any file     format once it is sampled.</a:t>
            </a:r>
            <a:endParaRPr lang="en-IN" sz="2000" dirty="0"/>
          </a:p>
        </p:txBody>
      </p:sp>
    </p:spTree>
    <p:extLst>
      <p:ext uri="{BB962C8B-B14F-4D97-AF65-F5344CB8AC3E}">
        <p14:creationId xmlns:p14="http://schemas.microsoft.com/office/powerpoint/2010/main" val="4258719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1222B91-01C1-561F-4DCF-5E73FC187EB7}"/>
              </a:ext>
            </a:extLst>
          </p:cNvPr>
          <p:cNvSpPr>
            <a:spLocks noGrp="1"/>
          </p:cNvSpPr>
          <p:nvPr>
            <p:ph type="body" sz="half" idx="2"/>
          </p:nvPr>
        </p:nvSpPr>
        <p:spPr>
          <a:xfrm>
            <a:off x="133205" y="857971"/>
            <a:ext cx="4592782" cy="5680941"/>
          </a:xfrm>
        </p:spPr>
        <p:txBody>
          <a:bodyPr>
            <a:normAutofit/>
          </a:bodyPr>
          <a:lstStyle/>
          <a:p>
            <a:r>
              <a:rPr lang="en-US" sz="2400" b="1" dirty="0"/>
              <a:t>Signal Visualization</a:t>
            </a:r>
            <a:endParaRPr lang="en-US" sz="2400" dirty="0"/>
          </a:p>
          <a:p>
            <a:pPr>
              <a:buFont typeface="Arial" panose="020B0604020202020204" pitchFamily="34" charset="0"/>
              <a:buChar char="•"/>
            </a:pPr>
            <a:r>
              <a:rPr lang="en-US" sz="2400" dirty="0"/>
              <a:t>The audio signal before and after processing can be visualized to highlight the differences and demonstrate the effectiveness of the method.</a:t>
            </a:r>
          </a:p>
          <a:p>
            <a:pPr>
              <a:buFont typeface="Arial" panose="020B0604020202020204" pitchFamily="34" charset="0"/>
              <a:buChar char="•"/>
            </a:pPr>
            <a:r>
              <a:rPr lang="en-US" sz="2400" dirty="0"/>
              <a:t>The left and right channels, the resulting signal after subtraction, and the filtered output can be plotted to provide insights into the transformation of the audio signal.</a:t>
            </a:r>
          </a:p>
          <a:p>
            <a:endParaRPr lang="en-IN" sz="3600" dirty="0"/>
          </a:p>
        </p:txBody>
      </p:sp>
      <p:sp>
        <p:nvSpPr>
          <p:cNvPr id="5" name="Footer Placeholder 4">
            <a:extLst>
              <a:ext uri="{FF2B5EF4-FFF2-40B4-BE49-F238E27FC236}">
                <a16:creationId xmlns:a16="http://schemas.microsoft.com/office/drawing/2014/main" id="{ED896B39-BBC6-C892-D7DC-A469E6018F34}"/>
              </a:ext>
            </a:extLst>
          </p:cNvPr>
          <p:cNvSpPr>
            <a:spLocks noGrp="1"/>
          </p:cNvSpPr>
          <p:nvPr>
            <p:ph type="ftr" sz="quarter" idx="11"/>
          </p:nvPr>
        </p:nvSpPr>
        <p:spPr/>
        <p:txBody>
          <a:bodyPr/>
          <a:lstStyle/>
          <a:p>
            <a:r>
              <a:rPr lang="en-US"/>
              <a:t>Dept. of ECE</a:t>
            </a:r>
          </a:p>
        </p:txBody>
      </p:sp>
      <p:sp>
        <p:nvSpPr>
          <p:cNvPr id="6" name="Slide Number Placeholder 5">
            <a:extLst>
              <a:ext uri="{FF2B5EF4-FFF2-40B4-BE49-F238E27FC236}">
                <a16:creationId xmlns:a16="http://schemas.microsoft.com/office/drawing/2014/main" id="{7C931015-A6CB-600E-C08B-490A507CC733}"/>
              </a:ext>
            </a:extLst>
          </p:cNvPr>
          <p:cNvSpPr>
            <a:spLocks noGrp="1"/>
          </p:cNvSpPr>
          <p:nvPr>
            <p:ph type="sldNum" sz="quarter" idx="12"/>
          </p:nvPr>
        </p:nvSpPr>
        <p:spPr/>
        <p:txBody>
          <a:bodyPr/>
          <a:lstStyle/>
          <a:p>
            <a:fld id="{14664CE2-A199-492D-95BF-8BD1FF457610}" type="slidenum">
              <a:rPr lang="en-US" smtClean="0"/>
              <a:t>10</a:t>
            </a:fld>
            <a:endParaRPr lang="en-US"/>
          </a:p>
        </p:txBody>
      </p:sp>
      <p:sp>
        <p:nvSpPr>
          <p:cNvPr id="14" name="Picture Placeholder 13">
            <a:extLst>
              <a:ext uri="{FF2B5EF4-FFF2-40B4-BE49-F238E27FC236}">
                <a16:creationId xmlns:a16="http://schemas.microsoft.com/office/drawing/2014/main" id="{7996917E-4AC2-DF45-170A-19DB34A55FE7}"/>
              </a:ext>
            </a:extLst>
          </p:cNvPr>
          <p:cNvSpPr>
            <a:spLocks noGrp="1"/>
          </p:cNvSpPr>
          <p:nvPr>
            <p:ph type="pic" idx="1"/>
          </p:nvPr>
        </p:nvSpPr>
        <p:spPr/>
        <p:txBody>
          <a:bodyPr/>
          <a:lstStyle/>
          <a:p>
            <a:endParaRPr lang="en-IN"/>
          </a:p>
        </p:txBody>
      </p:sp>
      <p:pic>
        <p:nvPicPr>
          <p:cNvPr id="16" name="Picture 15">
            <a:extLst>
              <a:ext uri="{FF2B5EF4-FFF2-40B4-BE49-F238E27FC236}">
                <a16:creationId xmlns:a16="http://schemas.microsoft.com/office/drawing/2014/main" id="{440F7E8B-19F0-CE71-C40A-707D6EF9F91F}"/>
              </a:ext>
            </a:extLst>
          </p:cNvPr>
          <p:cNvPicPr>
            <a:picLocks noChangeAspect="1"/>
          </p:cNvPicPr>
          <p:nvPr/>
        </p:nvPicPr>
        <p:blipFill>
          <a:blip r:embed="rId2"/>
          <a:stretch>
            <a:fillRect/>
          </a:stretch>
        </p:blipFill>
        <p:spPr>
          <a:xfrm>
            <a:off x="5183187" y="987425"/>
            <a:ext cx="6816257" cy="4873624"/>
          </a:xfrm>
          <a:prstGeom prst="rect">
            <a:avLst/>
          </a:prstGeom>
        </p:spPr>
      </p:pic>
      <p:sp>
        <p:nvSpPr>
          <p:cNvPr id="2" name="TextBox 1">
            <a:extLst>
              <a:ext uri="{FF2B5EF4-FFF2-40B4-BE49-F238E27FC236}">
                <a16:creationId xmlns:a16="http://schemas.microsoft.com/office/drawing/2014/main" id="{4E4ACD9B-386A-85CF-DE73-9582F76E6555}"/>
              </a:ext>
            </a:extLst>
          </p:cNvPr>
          <p:cNvSpPr txBox="1"/>
          <p:nvPr/>
        </p:nvSpPr>
        <p:spPr>
          <a:xfrm>
            <a:off x="78658" y="167148"/>
            <a:ext cx="4267200" cy="523220"/>
          </a:xfrm>
          <a:prstGeom prst="rect">
            <a:avLst/>
          </a:prstGeom>
          <a:noFill/>
        </p:spPr>
        <p:txBody>
          <a:bodyPr wrap="square" rtlCol="0">
            <a:spAutoFit/>
          </a:bodyPr>
          <a:lstStyle/>
          <a:p>
            <a:r>
              <a:rPr lang="en-US" sz="2800" b="1" u="sng" dirty="0">
                <a:solidFill>
                  <a:srgbClr val="FF0000"/>
                </a:solidFill>
              </a:rPr>
              <a:t>Results:</a:t>
            </a:r>
            <a:endParaRPr lang="en-IN" sz="2800" b="1" u="sng" dirty="0">
              <a:solidFill>
                <a:srgbClr val="FF0000"/>
              </a:solidFill>
            </a:endParaRPr>
          </a:p>
        </p:txBody>
      </p:sp>
    </p:spTree>
    <p:extLst>
      <p:ext uri="{BB962C8B-B14F-4D97-AF65-F5344CB8AC3E}">
        <p14:creationId xmlns:p14="http://schemas.microsoft.com/office/powerpoint/2010/main" val="3841704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Timeline of project</a:t>
            </a:r>
          </a:p>
        </p:txBody>
      </p:sp>
      <p:sp>
        <p:nvSpPr>
          <p:cNvPr id="4" name="Footer Placeholder 3"/>
          <p:cNvSpPr>
            <a:spLocks noGrp="1"/>
          </p:cNvSpPr>
          <p:nvPr>
            <p:ph type="ftr" sz="quarter" idx="11"/>
          </p:nvPr>
        </p:nvSpPr>
        <p:spPr/>
        <p:txBody>
          <a:bodyPr/>
          <a:lstStyle/>
          <a:p>
            <a:r>
              <a:rPr lang="en-US" sz="1800">
                <a:latin typeface="Times New Roman" panose="02020603050405020304" pitchFamily="18" charset="0"/>
                <a:cs typeface="Times New Roman" panose="02020603050405020304" pitchFamily="18" charset="0"/>
              </a:rPr>
              <a:t>Dept. of ECE</a:t>
            </a:r>
          </a:p>
        </p:txBody>
      </p:sp>
      <p:sp>
        <p:nvSpPr>
          <p:cNvPr id="5" name="Slide Number Placeholder 4"/>
          <p:cNvSpPr>
            <a:spLocks noGrp="1"/>
          </p:cNvSpPr>
          <p:nvPr>
            <p:ph type="sldNum" sz="quarter" idx="12"/>
          </p:nvPr>
        </p:nvSpPr>
        <p:spPr/>
        <p:txBody>
          <a:bodyPr/>
          <a:lstStyle/>
          <a:p>
            <a:fld id="{14664CE2-A199-492D-95BF-8BD1FF457610}" type="slidenum">
              <a:rPr lang="en-US" smtClean="0"/>
              <a:t>11</a:t>
            </a:fld>
            <a:endParaRPr lang="en-US"/>
          </a:p>
        </p:txBody>
      </p:sp>
      <p:pic>
        <p:nvPicPr>
          <p:cNvPr id="3" name="table">
            <a:extLst>
              <a:ext uri="{FF2B5EF4-FFF2-40B4-BE49-F238E27FC236}">
                <a16:creationId xmlns:a16="http://schemas.microsoft.com/office/drawing/2014/main" id="{245564DA-E221-F67E-12D1-74C1127D0A3B}"/>
              </a:ext>
            </a:extLst>
          </p:cNvPr>
          <p:cNvPicPr>
            <a:picLocks noChangeAspect="1"/>
          </p:cNvPicPr>
          <p:nvPr/>
        </p:nvPicPr>
        <p:blipFill>
          <a:blip r:embed="rId2"/>
          <a:stretch>
            <a:fillRect/>
          </a:stretch>
        </p:blipFill>
        <p:spPr>
          <a:xfrm>
            <a:off x="1495710" y="2026445"/>
            <a:ext cx="9200579" cy="32929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This project demonstrates how DSP techniques can isolate vocals from audio tracks by focusing on harmonic features, without relying on machine learning.</a:t>
            </a:r>
          </a:p>
          <a:p>
            <a:pPr algn="just"/>
            <a:r>
              <a:rPr lang="en-US" dirty="0">
                <a:latin typeface="Times New Roman" panose="02020603050405020304" pitchFamily="18" charset="0"/>
                <a:cs typeface="Times New Roman" panose="02020603050405020304" pitchFamily="18" charset="0"/>
              </a:rPr>
              <a:t>The approach is useful for applications like remixing and music analysis and can be adapted for real-time use.</a:t>
            </a:r>
          </a:p>
          <a:p>
            <a:pPr algn="just"/>
            <a:r>
              <a:rPr lang="en-US" dirty="0">
                <a:latin typeface="Times New Roman" panose="02020603050405020304" pitchFamily="18" charset="0"/>
                <a:cs typeface="Times New Roman" panose="02020603050405020304" pitchFamily="18" charset="0"/>
              </a:rPr>
              <a:t>With further optimization, the system could handle more complex audio mixtures</a:t>
            </a:r>
          </a:p>
        </p:txBody>
      </p:sp>
      <p:sp>
        <p:nvSpPr>
          <p:cNvPr id="4" name="Footer Placeholder 3"/>
          <p:cNvSpPr>
            <a:spLocks noGrp="1"/>
          </p:cNvSpPr>
          <p:nvPr>
            <p:ph type="ftr" sz="quarter" idx="11"/>
          </p:nvPr>
        </p:nvSpPr>
        <p:spPr/>
        <p:txBody>
          <a:bodyPr/>
          <a:lstStyle/>
          <a:p>
            <a:r>
              <a:rPr lang="en-US" sz="1800">
                <a:latin typeface="Times New Roman" panose="02020603050405020304" pitchFamily="18" charset="0"/>
                <a:cs typeface="Times New Roman" panose="02020603050405020304" pitchFamily="18" charset="0"/>
              </a:rPr>
              <a:t>Dept. of ECE</a:t>
            </a:r>
          </a:p>
        </p:txBody>
      </p:sp>
      <p:sp>
        <p:nvSpPr>
          <p:cNvPr id="5" name="Slide Number Placeholder 4"/>
          <p:cNvSpPr>
            <a:spLocks noGrp="1"/>
          </p:cNvSpPr>
          <p:nvPr>
            <p:ph type="sldNum" sz="quarter" idx="12"/>
          </p:nvPr>
        </p:nvSpPr>
        <p:spPr/>
        <p:txBody>
          <a:bodyPr/>
          <a:lstStyle/>
          <a:p>
            <a:fld id="{14664CE2-A199-492D-95BF-8BD1FF457610}"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8579"/>
            <a:ext cx="10515600" cy="895739"/>
          </a:xfrm>
        </p:spPr>
        <p:txBody>
          <a:bodyPr/>
          <a:lstStyle/>
          <a:p>
            <a:pPr algn="ctr"/>
            <a:r>
              <a:rPr lang="en-US" dirty="0">
                <a:solidFill>
                  <a:srgbClr val="FF0000"/>
                </a:solidFill>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711835" y="1097915"/>
            <a:ext cx="10897235" cy="5121910"/>
          </a:xfrm>
        </p:spPr>
        <p:txBody>
          <a:bodyPr>
            <a:normAutofit fontScale="97500"/>
          </a:bodyPr>
          <a:lstStyle/>
          <a:p>
            <a:pPr marL="0" indent="0">
              <a:buFont typeface="+mj-lt"/>
              <a:buNone/>
            </a:pPr>
            <a:r>
              <a:rPr lang="en-US" sz="3300" dirty="0"/>
              <a:t>I</a:t>
            </a:r>
            <a:r>
              <a:rPr lang="en-US" sz="2900" dirty="0"/>
              <a:t>]</a:t>
            </a:r>
            <a:r>
              <a:rPr lang="en-US" sz="3300" dirty="0"/>
              <a:t> </a:t>
            </a:r>
            <a:r>
              <a:rPr lang="en-US" dirty="0"/>
              <a:t>S. Rieck, "Singing Voice Extraction from 2‐Channel Polyphonic Musical Recordings," Diploma, Institute of Electronic Music and Acoustics, Graz University of Technology, Graz, Austria, 2012. </a:t>
            </a:r>
          </a:p>
          <a:p>
            <a:pPr marL="0" indent="0">
              <a:buFont typeface="+mj-lt"/>
              <a:buNone/>
            </a:pPr>
            <a:r>
              <a:rPr lang="en-US" sz="2900" dirty="0">
                <a:latin typeface="Times New Roman" panose="02020603050405020304" pitchFamily="18" charset="0"/>
                <a:cs typeface="Times New Roman" panose="02020603050405020304" pitchFamily="18" charset="0"/>
              </a:rPr>
              <a:t>II] </a:t>
            </a:r>
            <a:r>
              <a:rPr lang="en-IN" sz="2800" dirty="0"/>
              <a:t>W. Liu, S. Cao, and Y. Chen, “time–frequency analysis via empirical wavelet transform,” IEEE Geosci. Remote Sens. Lett., vol. 13, no. 1, pp. 28–32, Jan. 2016.</a:t>
            </a:r>
            <a:endParaRPr lang="en-US" sz="2800" dirty="0"/>
          </a:p>
          <a:p>
            <a:pPr marL="0" indent="0">
              <a:buFont typeface="+mj-lt"/>
              <a:buNone/>
            </a:pPr>
            <a:r>
              <a:rPr lang="en-US" sz="2900" dirty="0">
                <a:latin typeface="Times New Roman" panose="02020603050405020304" pitchFamily="18" charset="0"/>
                <a:cs typeface="Times New Roman" panose="02020603050405020304" pitchFamily="18" charset="0"/>
              </a:rPr>
              <a:t>III]</a:t>
            </a:r>
            <a:r>
              <a:rPr lang="en-IN" sz="2800" dirty="0"/>
              <a:t>D. FitzGerald, E. Coyle, and M. Cranitch, “Using tensor factorisation models to separate drums from polyphonic music,” in Proc. Digital Audio Effects (DAFx-09), Como, Italy, 2009.</a:t>
            </a:r>
          </a:p>
          <a:p>
            <a:pPr marL="0" indent="0">
              <a:buFont typeface="+mj-lt"/>
              <a:buNone/>
            </a:pPr>
            <a:r>
              <a:rPr lang="en-IN" sz="2900" dirty="0">
                <a:latin typeface="Times New Roman" panose="02020603050405020304" pitchFamily="18" charset="0"/>
                <a:cs typeface="Times New Roman" panose="02020603050405020304" pitchFamily="18" charset="0"/>
              </a:rPr>
              <a:t>IV]</a:t>
            </a:r>
            <a:r>
              <a:rPr lang="en-US" sz="2800" dirty="0"/>
              <a:t>G. Poliner, D. Ellis, A. Ehmann, E. Gomez, S. Streich, and ´ B. Ong. Melody transcription from music audio: approaches and evaluation. IEEE Trans. on ASLP, 14:1247–1256,</a:t>
            </a:r>
            <a:endParaRPr lang="en-US" sz="4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z="1800">
                <a:latin typeface="Times New Roman" panose="02020603050405020304" pitchFamily="18" charset="0"/>
                <a:cs typeface="Times New Roman" panose="02020603050405020304" pitchFamily="18" charset="0"/>
              </a:rPr>
              <a:t>Dept. of ECE</a:t>
            </a:r>
          </a:p>
        </p:txBody>
      </p:sp>
      <p:sp>
        <p:nvSpPr>
          <p:cNvPr id="5" name="Slide Number Placeholder 4"/>
          <p:cNvSpPr>
            <a:spLocks noGrp="1"/>
          </p:cNvSpPr>
          <p:nvPr>
            <p:ph type="sldNum" sz="quarter" idx="12"/>
          </p:nvPr>
        </p:nvSpPr>
        <p:spPr/>
        <p:txBody>
          <a:bodyPr/>
          <a:lstStyle/>
          <a:p>
            <a:fld id="{14664CE2-A199-492D-95BF-8BD1FF457610}"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C55577B-215C-97CC-B44D-16EFA934DD58}"/>
              </a:ext>
            </a:extLst>
          </p:cNvPr>
          <p:cNvSpPr>
            <a:spLocks noGrp="1"/>
          </p:cNvSpPr>
          <p:nvPr>
            <p:ph type="ftr" sz="quarter" idx="11"/>
          </p:nvPr>
        </p:nvSpPr>
        <p:spPr/>
        <p:txBody>
          <a:bodyPr/>
          <a:lstStyle/>
          <a:p>
            <a:r>
              <a:rPr lang="en-US"/>
              <a:t>Dept. of ECE</a:t>
            </a:r>
          </a:p>
        </p:txBody>
      </p:sp>
      <p:sp>
        <p:nvSpPr>
          <p:cNvPr id="3" name="Slide Number Placeholder 2">
            <a:extLst>
              <a:ext uri="{FF2B5EF4-FFF2-40B4-BE49-F238E27FC236}">
                <a16:creationId xmlns:a16="http://schemas.microsoft.com/office/drawing/2014/main" id="{B0ED6AAD-E84B-24A1-FDFC-1B720D20454B}"/>
              </a:ext>
            </a:extLst>
          </p:cNvPr>
          <p:cNvSpPr>
            <a:spLocks noGrp="1"/>
          </p:cNvSpPr>
          <p:nvPr>
            <p:ph type="sldNum" sz="quarter" idx="12"/>
          </p:nvPr>
        </p:nvSpPr>
        <p:spPr/>
        <p:txBody>
          <a:bodyPr/>
          <a:lstStyle/>
          <a:p>
            <a:fld id="{14664CE2-A199-492D-95BF-8BD1FF457610}" type="slidenum">
              <a:rPr lang="en-US" smtClean="0"/>
              <a:t>14</a:t>
            </a:fld>
            <a:endParaRPr lang="en-US"/>
          </a:p>
        </p:txBody>
      </p:sp>
      <p:sp>
        <p:nvSpPr>
          <p:cNvPr id="4" name="TextBox 3">
            <a:extLst>
              <a:ext uri="{FF2B5EF4-FFF2-40B4-BE49-F238E27FC236}">
                <a16:creationId xmlns:a16="http://schemas.microsoft.com/office/drawing/2014/main" id="{72CC87D4-DC89-35FC-7764-DAA2528D85B0}"/>
              </a:ext>
            </a:extLst>
          </p:cNvPr>
          <p:cNvSpPr txBox="1"/>
          <p:nvPr/>
        </p:nvSpPr>
        <p:spPr>
          <a:xfrm>
            <a:off x="1766455" y="2608117"/>
            <a:ext cx="6540147" cy="769441"/>
          </a:xfrm>
          <a:prstGeom prst="rect">
            <a:avLst/>
          </a:prstGeom>
          <a:noFill/>
        </p:spPr>
        <p:txBody>
          <a:bodyPr wrap="square" rtlCol="0">
            <a:spAutoFit/>
          </a:bodyPr>
          <a:lstStyle/>
          <a:p>
            <a:pPr algn="ctr"/>
            <a:r>
              <a:rPr lang="en-IN" sz="4400" dirty="0">
                <a:solidFill>
                  <a:srgbClr val="FF0000"/>
                </a:solidFill>
              </a:rPr>
              <a:t>             THANK YOU.</a:t>
            </a:r>
          </a:p>
        </p:txBody>
      </p:sp>
    </p:spTree>
    <p:extLst>
      <p:ext uri="{BB962C8B-B14F-4D97-AF65-F5344CB8AC3E}">
        <p14:creationId xmlns:p14="http://schemas.microsoft.com/office/powerpoint/2010/main" val="28105387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33*134"/>
  <p:tag name="TABLE_ENDDRAG_RECT" val="144*252*633*134"/>
  <p:tag name="TABLE_AUTOADJUST_FLAG"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DSP</Template>
  <TotalTime>385</TotalTime>
  <Words>1108</Words>
  <Application>Microsoft Office PowerPoint</Application>
  <PresentationFormat>Widescreen</PresentationFormat>
  <Paragraphs>131</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Microsoft YaHei</vt:lpstr>
      <vt:lpstr>Arial</vt:lpstr>
      <vt:lpstr>Calibri</vt:lpstr>
      <vt:lpstr>Calibri Light</vt:lpstr>
      <vt:lpstr>Times New Roman</vt:lpstr>
      <vt:lpstr>Wingdings</vt:lpstr>
      <vt:lpstr>Office Theme</vt:lpstr>
      <vt:lpstr>PowerPoint Presentation</vt:lpstr>
      <vt:lpstr>INDEX</vt:lpstr>
      <vt:lpstr>Problem Statement</vt:lpstr>
      <vt:lpstr>Introduction</vt:lpstr>
      <vt:lpstr>How it works?</vt:lpstr>
      <vt:lpstr>PowerPoint Presentation</vt:lpstr>
      <vt:lpstr>PowerPoint Presentation</vt:lpstr>
      <vt:lpstr>PowerPoint Presentation</vt:lpstr>
      <vt:lpstr>PowerPoint Presentation</vt:lpstr>
      <vt:lpstr>PowerPoint Presentation</vt:lpstr>
      <vt:lpstr>Timeline of project</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Nandeesh. M. Katakol</dc:creator>
  <cp:lastModifiedBy>Nandeesh. M. Katakol</cp:lastModifiedBy>
  <cp:revision>9</cp:revision>
  <dcterms:created xsi:type="dcterms:W3CDTF">2024-11-15T05:57:44Z</dcterms:created>
  <dcterms:modified xsi:type="dcterms:W3CDTF">2025-01-05T17:46:53Z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1A4D34C0030F4378AD0CC9003012D84B_13</vt:lpwstr>
  </property>
  <property fmtid="{D5CDD505-2E9C-101B-9397-08002B2CF9AE}" pid="3" name="KSOProductBuildVer">
    <vt:lpwstr>1033-12.2.0.18607</vt:lpwstr>
  </property>
</Properties>
</file>